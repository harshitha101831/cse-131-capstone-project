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69" r:id="rId4"/>
    <p:sldId id="274" r:id="rId5"/>
    <p:sldId id="276" r:id="rId6"/>
    <p:sldId id="277" r:id="rId7"/>
    <p:sldId id="279" r:id="rId8"/>
    <p:sldId id="280" r:id="rId9"/>
    <p:sldId id="281" r:id="rId10"/>
    <p:sldId id="282" r:id="rId11"/>
    <p:sldId id="283" r:id="rId12"/>
    <p:sldId id="284" r:id="rId13"/>
    <p:sldId id="268" r:id="rId14"/>
    <p:sldId id="270" r:id="rId15"/>
    <p:sldId id="265" r:id="rId16"/>
    <p:sldId id="285" r:id="rId17"/>
    <p:sldId id="286"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14E477-82FA-4324-A96D-07280AEDF9C6}" v="4" dt="2025-09-10T04:04:04.500"/>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a A.Y" userId="3fff57e43a1626d8" providerId="LiveId" clId="{2359DC04-3988-4467-8719-799B365338E9}"/>
    <pc:docChg chg="modSld">
      <pc:chgData name="Harshitha A.Y" userId="3fff57e43a1626d8" providerId="LiveId" clId="{2359DC04-3988-4467-8719-799B365338E9}" dt="2025-09-10T05:38:39.214" v="9" actId="20577"/>
      <pc:docMkLst>
        <pc:docMk/>
      </pc:docMkLst>
      <pc:sldChg chg="modSp mod">
        <pc:chgData name="Harshitha A.Y" userId="3fff57e43a1626d8" providerId="LiveId" clId="{2359DC04-3988-4467-8719-799B365338E9}" dt="2025-09-10T05:38:39.214" v="9" actId="20577"/>
        <pc:sldMkLst>
          <pc:docMk/>
          <pc:sldMk cId="2143451837" sldId="269"/>
        </pc:sldMkLst>
        <pc:spChg chg="mod">
          <ac:chgData name="Harshitha A.Y" userId="3fff57e43a1626d8" providerId="LiveId" clId="{2359DC04-3988-4467-8719-799B365338E9}" dt="2025-09-10T05:38:39.214" v="9" actId="20577"/>
          <ac:spMkLst>
            <pc:docMk/>
            <pc:sldMk cId="2143451837" sldId="269"/>
            <ac:spMk id="96" creationId="{00000000-0000-0000-0000-000000000000}"/>
          </ac:spMkLst>
        </pc:spChg>
      </pc:sldChg>
      <pc:sldChg chg="modSp mod">
        <pc:chgData name="Harshitha A.Y" userId="3fff57e43a1626d8" providerId="LiveId" clId="{2359DC04-3988-4467-8719-799B365338E9}" dt="2025-09-10T04:04:18.267" v="4" actId="255"/>
        <pc:sldMkLst>
          <pc:docMk/>
          <pc:sldMk cId="3059607801" sldId="274"/>
        </pc:sldMkLst>
        <pc:spChg chg="mod">
          <ac:chgData name="Harshitha A.Y" userId="3fff57e43a1626d8" providerId="LiveId" clId="{2359DC04-3988-4467-8719-799B365338E9}" dt="2025-09-10T04:04:18.267" v="4" actId="255"/>
          <ac:spMkLst>
            <pc:docMk/>
            <pc:sldMk cId="3059607801" sldId="274"/>
            <ac:spMk id="5" creationId="{0107AACA-E201-C8EE-E9F9-7D10725A8C6E}"/>
          </ac:spMkLst>
        </pc:spChg>
      </pc:sldChg>
      <pc:sldChg chg="modSp mod">
        <pc:chgData name="Harshitha A.Y" userId="3fff57e43a1626d8" providerId="LiveId" clId="{2359DC04-3988-4467-8719-799B365338E9}" dt="2025-09-10T04:05:59.144" v="5" actId="255"/>
        <pc:sldMkLst>
          <pc:docMk/>
          <pc:sldMk cId="1386460229" sldId="279"/>
        </pc:sldMkLst>
        <pc:spChg chg="mod">
          <ac:chgData name="Harshitha A.Y" userId="3fff57e43a1626d8" providerId="LiveId" clId="{2359DC04-3988-4467-8719-799B365338E9}" dt="2025-09-10T04:05:59.144" v="5" actId="255"/>
          <ac:spMkLst>
            <pc:docMk/>
            <pc:sldMk cId="1386460229" sldId="279"/>
            <ac:spMk id="4" creationId="{56155B2A-AA61-F928-122F-E8C10013BAD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15" name="Google Shape;87;p13">
            <a:extLst>
              <a:ext uri="{FF2B5EF4-FFF2-40B4-BE49-F238E27FC236}">
                <a16:creationId xmlns:a16="http://schemas.microsoft.com/office/drawing/2014/main" id="{F2ADC6B7-B5EA-791E-653E-CF685EAFA493}"/>
              </a:ext>
            </a:extLst>
          </p:cNvPr>
          <p:cNvSpPr txBox="1">
            <a:spLocks noGrp="1"/>
          </p:cNvSpPr>
          <p:nvPr>
            <p:ph type="ctrTitle"/>
          </p:nvPr>
        </p:nvSpPr>
        <p:spPr>
          <a:xfrm>
            <a:off x="1" y="1108589"/>
            <a:ext cx="12192000" cy="552301"/>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PSCS_531_</a:t>
            </a:r>
            <a:r>
              <a:rPr lang="en-US" sz="2400" dirty="0">
                <a:latin typeface="Cambria" panose="02040503050406030204" pitchFamily="18" charset="0"/>
                <a:ea typeface="Cambria" panose="02040503050406030204" pitchFamily="18" charset="0"/>
              </a:rPr>
              <a:t>Projection of the extent of inundation corresponding to the forecasts of flood levels in a river.</a:t>
            </a:r>
            <a:endParaRPr sz="2400" dirty="0">
              <a:solidFill>
                <a:schemeClr val="tx1"/>
              </a:solidFill>
              <a:latin typeface="Cambria" panose="02040503050406030204" pitchFamily="18" charset="0"/>
              <a:ea typeface="Cambria" panose="02040503050406030204" pitchFamily="18" charset="0"/>
            </a:endParaRPr>
          </a:p>
        </p:txBody>
      </p:sp>
      <p:sp>
        <p:nvSpPr>
          <p:cNvPr id="16" name="Google Shape;88;p13">
            <a:extLst>
              <a:ext uri="{FF2B5EF4-FFF2-40B4-BE49-F238E27FC236}">
                <a16:creationId xmlns:a16="http://schemas.microsoft.com/office/drawing/2014/main" id="{17D09DC0-9E81-A27A-0468-890F6BC444E3}"/>
              </a:ext>
            </a:extLst>
          </p:cNvPr>
          <p:cNvSpPr txBox="1">
            <a:spLocks noGrp="1"/>
          </p:cNvSpPr>
          <p:nvPr>
            <p:ph type="subTitle" idx="1"/>
          </p:nvPr>
        </p:nvSpPr>
        <p:spPr>
          <a:xfrm>
            <a:off x="790469" y="1938079"/>
            <a:ext cx="3059636"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CSE_131</a:t>
            </a:r>
            <a:endParaRPr sz="1800" dirty="0">
              <a:latin typeface="Cambria" panose="02040503050406030204" pitchFamily="18" charset="0"/>
              <a:ea typeface="Cambria" panose="02040503050406030204" pitchFamily="18" charset="0"/>
            </a:endParaRPr>
          </a:p>
        </p:txBody>
      </p:sp>
      <p:sp>
        <p:nvSpPr>
          <p:cNvPr id="17" name="Google Shape;90;p13">
            <a:extLst>
              <a:ext uri="{FF2B5EF4-FFF2-40B4-BE49-F238E27FC236}">
                <a16:creationId xmlns:a16="http://schemas.microsoft.com/office/drawing/2014/main" id="{17529F87-9D43-0D90-3FBD-1C3035F22929}"/>
              </a:ext>
            </a:extLst>
          </p:cNvPr>
          <p:cNvSpPr txBox="1"/>
          <p:nvPr/>
        </p:nvSpPr>
        <p:spPr>
          <a:xfrm>
            <a:off x="7113082" y="2467078"/>
            <a:ext cx="4190126"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IN" sz="1700" b="1" dirty="0" err="1"/>
              <a:t>Mr.Likhith</a:t>
            </a:r>
            <a:r>
              <a:rPr lang="en-IN" sz="1700" b="1" dirty="0"/>
              <a:t> S.R </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r>
              <a:rPr lang="en-GB" dirty="0">
                <a:latin typeface="Cambria" panose="02040503050406030204" pitchFamily="18" charset="0"/>
                <a:ea typeface="Cambria" panose="02040503050406030204" pitchFamily="18" charset="0"/>
              </a:rPr>
              <a:t>-</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8" name="Google Shape;91;p13">
            <a:extLst>
              <a:ext uri="{FF2B5EF4-FFF2-40B4-BE49-F238E27FC236}">
                <a16:creationId xmlns:a16="http://schemas.microsoft.com/office/drawing/2014/main" id="{46BA43E7-8B72-EB9A-08D1-6C6797452CAD}"/>
              </a:ext>
            </a:extLst>
          </p:cNvPr>
          <p:cNvSpPr txBox="1"/>
          <p:nvPr/>
        </p:nvSpPr>
        <p:spPr>
          <a:xfrm>
            <a:off x="1" y="136441"/>
            <a:ext cx="12192000"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19" name="Google Shape;91;p13">
            <a:extLst>
              <a:ext uri="{FF2B5EF4-FFF2-40B4-BE49-F238E27FC236}">
                <a16:creationId xmlns:a16="http://schemas.microsoft.com/office/drawing/2014/main" id="{986AC6BD-1A68-238D-869A-9B931F50C0EF}"/>
              </a:ext>
            </a:extLst>
          </p:cNvPr>
          <p:cNvSpPr txBox="1"/>
          <p:nvPr/>
        </p:nvSpPr>
        <p:spPr>
          <a:xfrm>
            <a:off x="709317" y="4740488"/>
            <a:ext cx="11226009"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CSE</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Mohamed H B</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Jayavadivel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0" name="Table 19">
            <a:extLst>
              <a:ext uri="{FF2B5EF4-FFF2-40B4-BE49-F238E27FC236}">
                <a16:creationId xmlns:a16="http://schemas.microsoft.com/office/drawing/2014/main" id="{86B061C8-73F3-67AF-8D4B-3CEA53BB4EDB}"/>
              </a:ext>
            </a:extLst>
          </p:cNvPr>
          <p:cNvGraphicFramePr>
            <a:graphicFrameLocks noGrp="1"/>
          </p:cNvGraphicFramePr>
          <p:nvPr>
            <p:extLst>
              <p:ext uri="{D42A27DB-BD31-4B8C-83A1-F6EECF244321}">
                <p14:modId xmlns:p14="http://schemas.microsoft.com/office/powerpoint/2010/main" val="855056964"/>
              </p:ext>
            </p:extLst>
          </p:nvPr>
        </p:nvGraphicFramePr>
        <p:xfrm>
          <a:off x="790469" y="2564647"/>
          <a:ext cx="5578248" cy="1825423"/>
        </p:xfrm>
        <a:graphic>
          <a:graphicData uri="http://schemas.openxmlformats.org/drawingml/2006/table">
            <a:tbl>
              <a:tblPr firstRow="1" bandRow="1">
                <a:tableStyleId>{5C22544A-7EE6-4342-B048-85BDC9FD1C3A}</a:tableStyleId>
              </a:tblPr>
              <a:tblGrid>
                <a:gridCol w="2789124">
                  <a:extLst>
                    <a:ext uri="{9D8B030D-6E8A-4147-A177-3AD203B41FA5}">
                      <a16:colId xmlns:a16="http://schemas.microsoft.com/office/drawing/2014/main" val="1982293054"/>
                    </a:ext>
                  </a:extLst>
                </a:gridCol>
                <a:gridCol w="2789124">
                  <a:extLst>
                    <a:ext uri="{9D8B030D-6E8A-4147-A177-3AD203B41FA5}">
                      <a16:colId xmlns:a16="http://schemas.microsoft.com/office/drawing/2014/main" val="3835210336"/>
                    </a:ext>
                  </a:extLst>
                </a:gridCol>
              </a:tblGrid>
              <a:tr h="47720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400" b="1" u="none" strike="noStrike" cap="none" dirty="0">
                          <a:solidFill>
                            <a:schemeClr val="bg1">
                              <a:lumMod val="95000"/>
                            </a:schemeClr>
                          </a:solidFill>
                        </a:rPr>
                        <a:t>Roll Number</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400" b="1" u="none" strike="noStrike" cap="none" dirty="0">
                          <a:solidFill>
                            <a:schemeClr val="bg1"/>
                          </a:solidFill>
                        </a:rPr>
                        <a:t>Student Name</a:t>
                      </a:r>
                    </a:p>
                  </a:txBody>
                  <a:tcPr/>
                </a:tc>
                <a:extLst>
                  <a:ext uri="{0D108BD9-81ED-4DB2-BD59-A6C34878D82A}">
                    <a16:rowId xmlns:a16="http://schemas.microsoft.com/office/drawing/2014/main" val="3196418079"/>
                  </a:ext>
                </a:extLst>
              </a:tr>
              <a:tr h="458830">
                <a:tc>
                  <a:txBody>
                    <a:bodyPr/>
                    <a:lstStyle/>
                    <a:p>
                      <a:r>
                        <a:rPr lang="en-IN" dirty="0"/>
                        <a:t>HARSHITHA A Y</a:t>
                      </a:r>
                    </a:p>
                  </a:txBody>
                  <a:tcPr/>
                </a:tc>
                <a:tc>
                  <a:txBody>
                    <a:bodyPr/>
                    <a:lstStyle/>
                    <a:p>
                      <a:r>
                        <a:rPr lang="en-IN" dirty="0"/>
                        <a:t>20221CSE0526</a:t>
                      </a:r>
                    </a:p>
                  </a:txBody>
                  <a:tcPr/>
                </a:tc>
                <a:extLst>
                  <a:ext uri="{0D108BD9-81ED-4DB2-BD59-A6C34878D82A}">
                    <a16:rowId xmlns:a16="http://schemas.microsoft.com/office/drawing/2014/main" val="265354422"/>
                  </a:ext>
                </a:extLst>
              </a:tr>
              <a:tr h="430559">
                <a:tc>
                  <a:txBody>
                    <a:bodyPr/>
                    <a:lstStyle/>
                    <a:p>
                      <a:r>
                        <a:rPr lang="en-IN" dirty="0"/>
                        <a:t>HAMSA M </a:t>
                      </a:r>
                    </a:p>
                  </a:txBody>
                  <a:tcPr/>
                </a:tc>
                <a:tc>
                  <a:txBody>
                    <a:bodyPr/>
                    <a:lstStyle/>
                    <a:p>
                      <a:r>
                        <a:rPr lang="en-IN" dirty="0"/>
                        <a:t>20221CSE0525</a:t>
                      </a:r>
                    </a:p>
                  </a:txBody>
                  <a:tcPr/>
                </a:tc>
                <a:extLst>
                  <a:ext uri="{0D108BD9-81ED-4DB2-BD59-A6C34878D82A}">
                    <a16:rowId xmlns:a16="http://schemas.microsoft.com/office/drawing/2014/main" val="485875827"/>
                  </a:ext>
                </a:extLst>
              </a:tr>
              <a:tr h="458830">
                <a:tc>
                  <a:txBody>
                    <a:bodyPr/>
                    <a:lstStyle/>
                    <a:p>
                      <a:r>
                        <a:rPr lang="en-US" dirty="0"/>
                        <a:t>B</a:t>
                      </a:r>
                      <a:r>
                        <a:rPr lang="en-IN" dirty="0"/>
                        <a:t>HAGYASHREE N PATIL</a:t>
                      </a:r>
                    </a:p>
                  </a:txBody>
                  <a:tcPr/>
                </a:tc>
                <a:tc>
                  <a:txBody>
                    <a:bodyPr/>
                    <a:lstStyle/>
                    <a:p>
                      <a:r>
                        <a:rPr lang="en-IN" dirty="0"/>
                        <a:t>20221CSE0499</a:t>
                      </a:r>
                    </a:p>
                  </a:txBody>
                  <a:tcPr/>
                </a:tc>
                <a:extLst>
                  <a:ext uri="{0D108BD9-81ED-4DB2-BD59-A6C34878D82A}">
                    <a16:rowId xmlns:a16="http://schemas.microsoft.com/office/drawing/2014/main" val="287352129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36117" y="948951"/>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Problem Statement</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Abstract</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Literature Survey</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Objectives</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Existing Methods and Drawbacks</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Proposed Methods and Feasibility Study</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Architecture Diagram</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Modules</a:t>
            </a:r>
          </a:p>
          <a:p>
            <a:pPr marL="495300" indent="-342900" algn="just">
              <a:lnSpc>
                <a:spcPct val="200000"/>
              </a:lnSpc>
              <a:spcBef>
                <a:spcPts val="0"/>
              </a:spcBef>
              <a:buFont typeface="Arial" panose="020B0604020202020204" pitchFamily="34" charset="0"/>
              <a:buChar char="•"/>
            </a:pPr>
            <a:r>
              <a:rPr lang="en-US" sz="1500" dirty="0">
                <a:latin typeface="Calibri" panose="020F0502020204030204" pitchFamily="34" charset="0"/>
                <a:ea typeface="Calibri" panose="020F0502020204030204" pitchFamily="34" charset="0"/>
                <a:cs typeface="Calibri" panose="020F0502020204030204" pitchFamily="34" charset="0"/>
              </a:rPr>
              <a:t>Hardware and Software Details</a:t>
            </a:r>
          </a:p>
          <a:p>
            <a:pPr marL="495300" indent="-342900" algn="just">
              <a:lnSpc>
                <a:spcPct val="200000"/>
              </a:lnSpc>
              <a:spcBef>
                <a:spcPts val="0"/>
              </a:spcBef>
            </a:pPr>
            <a:r>
              <a:rPr lang="en-US" sz="1500" dirty="0">
                <a:latin typeface="Calibri" panose="020F0502020204030204" pitchFamily="34" charset="0"/>
                <a:ea typeface="Calibri" panose="020F0502020204030204" pitchFamily="34" charset="0"/>
                <a:cs typeface="Calibri" panose="020F0502020204030204" pitchFamily="34" charset="0"/>
              </a:rPr>
              <a:t>Timeline of the Project (Gantt Chart)</a:t>
            </a:r>
          </a:p>
          <a:p>
            <a:pPr marL="495300" indent="-342900" algn="just">
              <a:lnSpc>
                <a:spcPct val="200000"/>
              </a:lnSpc>
              <a:spcBef>
                <a:spcPts val="0"/>
              </a:spcBef>
            </a:pPr>
            <a:r>
              <a:rPr lang="en-US" sz="1500" dirty="0">
                <a:latin typeface="Calibri" panose="020F0502020204030204" pitchFamily="34" charset="0"/>
                <a:ea typeface="Calibri" panose="020F0502020204030204" pitchFamily="34" charset="0"/>
                <a:cs typeface="Calibri" panose="020F0502020204030204" pitchFamily="34" charset="0"/>
              </a:rPr>
              <a:t>References</a:t>
            </a:r>
          </a:p>
          <a:p>
            <a:pPr marL="152400" indent="0" algn="just">
              <a:lnSpc>
                <a:spcPct val="200000"/>
              </a:lnSpc>
              <a:spcBef>
                <a:spcPts val="0"/>
              </a:spcBef>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152400" lvl="0" indent="0" algn="just">
              <a:lnSpc>
                <a:spcPct val="200000"/>
              </a:lnSpc>
              <a:spcBef>
                <a:spcPts val="0"/>
              </a:spcBef>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152400" lvl="0" indent="0" algn="just">
              <a:lnSpc>
                <a:spcPct val="200000"/>
              </a:lnSpc>
              <a:spcBef>
                <a:spcPts val="0"/>
              </a:spcBef>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495300" lvl="0" indent="-342900" algn="just">
              <a:lnSpc>
                <a:spcPct val="200000"/>
              </a:lnSpc>
              <a:spcBef>
                <a:spcPts val="0"/>
              </a:spcBef>
              <a:buFont typeface="Wingdings" panose="05000000000000000000" pitchFamily="2" charset="2"/>
              <a:buChar char="Ø"/>
            </a:pP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675147" y="284470"/>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a:t>
            </a:r>
            <a:r>
              <a:rPr lang="en-GB">
                <a:latin typeface="Cambria" panose="02040503050406030204" pitchFamily="18" charset="0"/>
                <a:ea typeface="Cambria" panose="02040503050406030204" pitchFamily="18" charset="0"/>
              </a:rPr>
              <a:t>: PSCS</a:t>
            </a:r>
            <a:endParaRPr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9252C005-F5A4-7913-CF05-3638DA76C6F2}"/>
              </a:ext>
            </a:extLst>
          </p:cNvPr>
          <p:cNvSpPr txBox="1"/>
          <p:nvPr/>
        </p:nvSpPr>
        <p:spPr>
          <a:xfrm>
            <a:off x="675147" y="1002889"/>
            <a:ext cx="10805653" cy="5016758"/>
          </a:xfrm>
          <a:prstGeom prst="rect">
            <a:avLst/>
          </a:prstGeom>
          <a:noFill/>
        </p:spPr>
        <p:txBody>
          <a:bodyPr wrap="square" rtlCol="0">
            <a:spAutoFit/>
          </a:bodyPr>
          <a:lstStyle/>
          <a:p>
            <a:pPr marL="342900" lvl="0" indent="-190500" algn="just"/>
            <a:r>
              <a:rPr lang="en-US" sz="2000" b="1" dirty="0">
                <a:latin typeface="Calibri" panose="020F0502020204030204" pitchFamily="34" charset="0"/>
                <a:ea typeface="Calibri" panose="020F0502020204030204" pitchFamily="34" charset="0"/>
                <a:cs typeface="Calibri" panose="020F0502020204030204" pitchFamily="34" charset="0"/>
              </a:rPr>
              <a:t>Organization :</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mbria" panose="02040503050406030204" pitchFamily="18" charset="0"/>
                <a:ea typeface="Cambria" panose="02040503050406030204" pitchFamily="18" charset="0"/>
              </a:rPr>
              <a:t>Department of Computer Science and Engineering,</a:t>
            </a:r>
          </a:p>
          <a:p>
            <a:pPr marL="342900" lvl="0" indent="-190500" algn="just"/>
            <a:r>
              <a:rPr lang="en-US" sz="2000" dirty="0">
                <a:latin typeface="Cambria" panose="02040503050406030204" pitchFamily="18" charset="0"/>
                <a:ea typeface="Cambria" panose="02040503050406030204" pitchFamily="18" charset="0"/>
              </a:rPr>
              <a:t>Presidency University Bangalore</a:t>
            </a: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Category (Hardware / Software / Both) :</a:t>
            </a:r>
            <a:r>
              <a:rPr lang="en-US" sz="2000" dirty="0">
                <a:latin typeface="Calibri" panose="020F0502020204030204" pitchFamily="34" charset="0"/>
                <a:ea typeface="Calibri" panose="020F0502020204030204" pitchFamily="34" charset="0"/>
                <a:cs typeface="Calibri" panose="020F0502020204030204" pitchFamily="34" charset="0"/>
              </a:rPr>
              <a:t>  Software</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mbria" panose="02040503050406030204" pitchFamily="18" charset="0"/>
                <a:ea typeface="Cambria" panose="02040503050406030204" pitchFamily="18" charset="0"/>
              </a:rPr>
              <a:t>Problem Description: </a:t>
            </a: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Floods are one of the most destructive natural disasters, causing loss of lives, damage to      infrastructure, and economic setbacks. Traditional prediction methods often lack accuracy and timeliness. This project uses machine learning with multi-source data—rainfall, river levels, temperature, and satellite imagery—to provide accurate, real-time flood forecasts for better preparedness and response.</a:t>
            </a:r>
          </a:p>
          <a:p>
            <a:r>
              <a:rPr lang="en-US" sz="2000" b="1" dirty="0">
                <a:latin typeface="Calibri" panose="020F0502020204030204" pitchFamily="34" charset="0"/>
                <a:ea typeface="Calibri" panose="020F0502020204030204" pitchFamily="34" charset="0"/>
                <a:cs typeface="Calibri" panose="020F0502020204030204" pitchFamily="34" charset="0"/>
              </a:rPr>
              <a:t>  </a:t>
            </a:r>
          </a:p>
          <a:p>
            <a:r>
              <a:rPr lang="en-IN" sz="2000" dirty="0"/>
              <a:t> </a:t>
            </a: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IN" sz="2000" dirty="0"/>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EACD-B773-5100-65FE-C3B240BB747C}"/>
              </a:ext>
            </a:extLst>
          </p:cNvPr>
          <p:cNvSpPr>
            <a:spLocks noGrp="1"/>
          </p:cNvSpPr>
          <p:nvPr>
            <p:ph type="title"/>
          </p:nvPr>
        </p:nvSpPr>
        <p:spPr>
          <a:xfrm>
            <a:off x="762000" y="469087"/>
            <a:ext cx="10668000" cy="487500"/>
          </a:xfrm>
        </p:spPr>
        <p:txBody>
          <a:bodyPr/>
          <a:lstStyle/>
          <a:p>
            <a:r>
              <a:rPr lang="en-US" dirty="0">
                <a:latin typeface="Cambria" panose="02040503050406030204" pitchFamily="18" charset="0"/>
                <a:ea typeface="Cambria" panose="02040503050406030204" pitchFamily="18" charset="0"/>
              </a:rPr>
              <a:t>Abstract</a:t>
            </a:r>
            <a:br>
              <a:rPr lang="en-US" dirty="0">
                <a:latin typeface="Cambria" panose="02040503050406030204" pitchFamily="18" charset="0"/>
                <a:ea typeface="Cambria" panose="02040503050406030204" pitchFamily="18" charset="0"/>
              </a:rPr>
            </a:br>
            <a:endParaRPr lang="en-IN" dirty="0"/>
          </a:p>
        </p:txBody>
      </p:sp>
      <p:sp>
        <p:nvSpPr>
          <p:cNvPr id="5" name="Rectangle 2">
            <a:extLst>
              <a:ext uri="{FF2B5EF4-FFF2-40B4-BE49-F238E27FC236}">
                <a16:creationId xmlns:a16="http://schemas.microsoft.com/office/drawing/2014/main" id="{0107AACA-E201-C8EE-E9F9-7D10725A8C6E}"/>
              </a:ext>
            </a:extLst>
          </p:cNvPr>
          <p:cNvSpPr>
            <a:spLocks noGrp="1" noChangeArrowheads="1"/>
          </p:cNvSpPr>
          <p:nvPr>
            <p:ph type="body" idx="1"/>
          </p:nvPr>
        </p:nvSpPr>
        <p:spPr bwMode="auto">
          <a:xfrm>
            <a:off x="548640" y="1691017"/>
            <a:ext cx="1107338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US" sz="2000" dirty="0"/>
              <a:t>This project focuses on </a:t>
            </a:r>
            <a:r>
              <a:rPr lang="en-US" sz="2000" b="1" dirty="0"/>
              <a:t>Flood Prediction Using Satellite Imagery and Machine Learning</a:t>
            </a:r>
            <a:r>
              <a:rPr lang="en-US" sz="2000" dirty="0"/>
              <a:t>, with the primary goal of developing robust backend models. Key environmental parameters such as rainfall intensity, soil moisture, water body size, and topographical variations are extracted from satellite imagery to train models like K-Means, </a:t>
            </a:r>
            <a:r>
              <a:rPr lang="en-US" sz="2000" dirty="0" err="1"/>
              <a:t>XGBoost</a:t>
            </a:r>
            <a:r>
              <a:rPr lang="en-US" sz="2000" dirty="0"/>
              <a:t>, and Decision Trees. Extensive experimentation and analysis are conducted, comparing models using standard accuracy metrics and data visualizations to capture trends and patterns. The backend system ensures scalability and reliability, enabling accurate predictions that can later be integrated into larger flood monitoring and early-warning systems. This contributes to reducing the impact of floods on human lives, infrastructure, and the environment.</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9607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65EF-678B-05DA-E7F3-4DFC5026AD43}"/>
              </a:ext>
            </a:extLst>
          </p:cNvPr>
          <p:cNvSpPr>
            <a:spLocks noGrp="1"/>
          </p:cNvSpPr>
          <p:nvPr>
            <p:ph type="title"/>
          </p:nvPr>
        </p:nvSpPr>
        <p:spPr>
          <a:xfrm>
            <a:off x="762000" y="518249"/>
            <a:ext cx="10668000" cy="487500"/>
          </a:xfrm>
        </p:spPr>
        <p:txBody>
          <a:bodyPr/>
          <a:lstStyle/>
          <a:p>
            <a:r>
              <a:rPr lang="en-US" dirty="0">
                <a:latin typeface="Cambria" panose="02040503050406030204" pitchFamily="18" charset="0"/>
                <a:ea typeface="Cambria" panose="02040503050406030204" pitchFamily="18" charset="0"/>
              </a:rPr>
              <a:t>Literature Survey</a:t>
            </a:r>
            <a:br>
              <a:rPr lang="en-US" dirty="0">
                <a:latin typeface="Cambria" panose="02040503050406030204" pitchFamily="18" charset="0"/>
                <a:ea typeface="Cambria" panose="02040503050406030204" pitchFamily="18" charset="0"/>
              </a:rPr>
            </a:br>
            <a:endParaRPr lang="en-IN" dirty="0"/>
          </a:p>
        </p:txBody>
      </p:sp>
      <p:sp>
        <p:nvSpPr>
          <p:cNvPr id="4" name="Rectangle 1">
            <a:extLst>
              <a:ext uri="{FF2B5EF4-FFF2-40B4-BE49-F238E27FC236}">
                <a16:creationId xmlns:a16="http://schemas.microsoft.com/office/drawing/2014/main" id="{9B8AE75E-16E7-92A7-A979-D8F4446FFF5B}"/>
              </a:ext>
            </a:extLst>
          </p:cNvPr>
          <p:cNvSpPr>
            <a:spLocks noGrp="1" noChangeArrowheads="1"/>
          </p:cNvSpPr>
          <p:nvPr>
            <p:ph type="body" idx="1"/>
          </p:nvPr>
        </p:nvSpPr>
        <p:spPr bwMode="auto">
          <a:xfrm>
            <a:off x="762000" y="1005749"/>
            <a:ext cx="112415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Sources: </a:t>
            </a:r>
            <a:r>
              <a:rPr kumimoji="0" lang="en-US" altLang="en-US" sz="1800" b="1" i="0" u="none" strike="noStrike" cap="none" normalizeH="0" baseline="0" dirty="0">
                <a:ln>
                  <a:noFill/>
                </a:ln>
                <a:solidFill>
                  <a:schemeClr val="tx1"/>
                </a:solidFill>
                <a:effectLst/>
                <a:latin typeface="Arial" panose="020B0604020202020204" pitchFamily="34" charset="0"/>
              </a:rPr>
              <a:t>IEEE</a:t>
            </a: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 Identify </a:t>
            </a:r>
            <a:r>
              <a:rPr kumimoji="0" lang="en-US" altLang="en-US" sz="1800" b="1" i="0" u="none" strike="noStrike" cap="none" normalizeH="0" baseline="0" dirty="0">
                <a:ln>
                  <a:noFill/>
                </a:ln>
                <a:solidFill>
                  <a:schemeClr val="tx1"/>
                </a:solidFill>
                <a:effectLst/>
                <a:latin typeface="Arial" panose="020B0604020202020204" pitchFamily="34" charset="0"/>
              </a:rPr>
              <a:t>strengths, limitations, and research gaps</a:t>
            </a:r>
            <a:r>
              <a:rPr kumimoji="0" lang="en-US" altLang="en-US" sz="1800" b="0" i="0" u="none" strike="noStrike" cap="none" normalizeH="0" baseline="0" dirty="0">
                <a:ln>
                  <a:noFill/>
                </a:ln>
                <a:solidFill>
                  <a:schemeClr val="tx1"/>
                </a:solidFill>
                <a:effectLst/>
                <a:latin typeface="Arial" panose="020B0604020202020204" pitchFamily="34" charset="0"/>
              </a:rPr>
              <a:t> to guide our project design.</a:t>
            </a:r>
          </a:p>
        </p:txBody>
      </p:sp>
      <p:graphicFrame>
        <p:nvGraphicFramePr>
          <p:cNvPr id="5" name="Table 4">
            <a:extLst>
              <a:ext uri="{FF2B5EF4-FFF2-40B4-BE49-F238E27FC236}">
                <a16:creationId xmlns:a16="http://schemas.microsoft.com/office/drawing/2014/main" id="{6FA72F59-E6ED-45EF-4E73-8F5C49287211}"/>
              </a:ext>
            </a:extLst>
          </p:cNvPr>
          <p:cNvGraphicFramePr>
            <a:graphicFrameLocks noGrp="1"/>
          </p:cNvGraphicFramePr>
          <p:nvPr>
            <p:extLst>
              <p:ext uri="{D42A27DB-BD31-4B8C-83A1-F6EECF244321}">
                <p14:modId xmlns:p14="http://schemas.microsoft.com/office/powerpoint/2010/main" val="3319698419"/>
              </p:ext>
            </p:extLst>
          </p:nvPr>
        </p:nvGraphicFramePr>
        <p:xfrm>
          <a:off x="891458" y="2458064"/>
          <a:ext cx="10668000" cy="3588774"/>
        </p:xfrm>
        <a:graphic>
          <a:graphicData uri="http://schemas.openxmlformats.org/drawingml/2006/table">
            <a:tbl>
              <a:tblPr/>
              <a:tblGrid>
                <a:gridCol w="2667000">
                  <a:extLst>
                    <a:ext uri="{9D8B030D-6E8A-4147-A177-3AD203B41FA5}">
                      <a16:colId xmlns:a16="http://schemas.microsoft.com/office/drawing/2014/main" val="1000434668"/>
                    </a:ext>
                  </a:extLst>
                </a:gridCol>
                <a:gridCol w="2667000">
                  <a:extLst>
                    <a:ext uri="{9D8B030D-6E8A-4147-A177-3AD203B41FA5}">
                      <a16:colId xmlns:a16="http://schemas.microsoft.com/office/drawing/2014/main" val="236338984"/>
                    </a:ext>
                  </a:extLst>
                </a:gridCol>
                <a:gridCol w="2667000">
                  <a:extLst>
                    <a:ext uri="{9D8B030D-6E8A-4147-A177-3AD203B41FA5}">
                      <a16:colId xmlns:a16="http://schemas.microsoft.com/office/drawing/2014/main" val="543258345"/>
                    </a:ext>
                  </a:extLst>
                </a:gridCol>
                <a:gridCol w="2667000">
                  <a:extLst>
                    <a:ext uri="{9D8B030D-6E8A-4147-A177-3AD203B41FA5}">
                      <a16:colId xmlns:a16="http://schemas.microsoft.com/office/drawing/2014/main" val="1909727239"/>
                    </a:ext>
                  </a:extLst>
                </a:gridCol>
              </a:tblGrid>
              <a:tr h="351841">
                <a:tc>
                  <a:txBody>
                    <a:bodyPr/>
                    <a:lstStyle/>
                    <a:p>
                      <a:pPr>
                        <a:buNone/>
                      </a:pPr>
                      <a:r>
                        <a:rPr lang="en-IN" b="1" dirty="0"/>
                        <a:t>Author / Year</a:t>
                      </a:r>
                      <a:endParaRPr lang="en-IN" dirty="0"/>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Title</a:t>
                      </a:r>
                      <a:endParaRPr lang="en-IN" dirty="0"/>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Contribution</a:t>
                      </a:r>
                      <a:endParaRPr lang="en-IN" dirty="0"/>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Relevance to Our Work</a:t>
                      </a:r>
                      <a:endParaRPr lang="en-IN" dirty="0"/>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970458292"/>
                  </a:ext>
                </a:extLst>
              </a:tr>
              <a:tr h="844417">
                <a:tc>
                  <a:txBody>
                    <a:bodyPr/>
                    <a:lstStyle/>
                    <a:p>
                      <a:pPr>
                        <a:buNone/>
                      </a:pPr>
                      <a:r>
                        <a:rPr lang="en-IN" dirty="0"/>
                        <a:t>Singh, 2023</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i="1" dirty="0"/>
                        <a:t>Digital Grievance Redressal Systems: Improving Transparency</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Emphasized accountability &amp; citizen trust</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Motivates “Reopen &amp; Audit Trail” feature</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30511936"/>
                  </a:ext>
                </a:extLst>
              </a:tr>
              <a:tr h="598129">
                <a:tc>
                  <a:txBody>
                    <a:bodyPr/>
                    <a:lstStyle/>
                    <a:p>
                      <a:pPr>
                        <a:buNone/>
                      </a:pPr>
                      <a:r>
                        <a:rPr lang="en-IN"/>
                        <a:t>Lee &amp; Patel, 2022</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i="1" dirty="0"/>
                        <a:t>Cross-Platform Mobile App Development Using Flutter</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Showed efficiency of Flutter for cross-platform apps</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Supports our Flutter mobile app</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133301708"/>
                  </a:ext>
                </a:extLst>
              </a:tr>
              <a:tr h="598129">
                <a:tc>
                  <a:txBody>
                    <a:bodyPr/>
                    <a:lstStyle/>
                    <a:p>
                      <a:pPr>
                        <a:buNone/>
                      </a:pPr>
                      <a:r>
                        <a:rPr lang="en-IN"/>
                        <a:t>Sharma, 2021</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i="1" dirty="0"/>
                        <a:t>E-Governance and Citizen Engagement</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Highlighted importance of user-friendly portals</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Justifies our UI/UX improvements</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639358894"/>
                  </a:ext>
                </a:extLst>
              </a:tr>
              <a:tr h="598129">
                <a:tc>
                  <a:txBody>
                    <a:bodyPr/>
                    <a:lstStyle/>
                    <a:p>
                      <a:pPr>
                        <a:buNone/>
                      </a:pPr>
                      <a:r>
                        <a:rPr lang="en-IN"/>
                        <a:t>Cortés-Cediel, 2023</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i="1" dirty="0"/>
                        <a:t>Trends &amp; Challenges of E-Government Chatbots</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Reviewed chatbots in e-gov, stressed multilingual needs</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Supports AI chatbot in Kannada/English</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578447961"/>
                  </a:ext>
                </a:extLst>
              </a:tr>
              <a:tr h="598129">
                <a:tc>
                  <a:txBody>
                    <a:bodyPr/>
                    <a:lstStyle/>
                    <a:p>
                      <a:pPr>
                        <a:buNone/>
                      </a:pPr>
                      <a:r>
                        <a:rPr lang="en-IN"/>
                        <a:t>Gupta, 2025</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i="1"/>
                        <a:t>AI-Based Solution for Grievance Lodging</a:t>
                      </a:r>
                      <a:endParaRPr lang="en-US"/>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Proposed multilingual AI chatbot system</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Guides our AI/ML chatbot integration</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25672793"/>
                  </a:ext>
                </a:extLst>
              </a:tr>
            </a:tbl>
          </a:graphicData>
        </a:graphic>
      </p:graphicFrame>
      <p:graphicFrame>
        <p:nvGraphicFramePr>
          <p:cNvPr id="3" name="Table 2">
            <a:extLst>
              <a:ext uri="{FF2B5EF4-FFF2-40B4-BE49-F238E27FC236}">
                <a16:creationId xmlns:a16="http://schemas.microsoft.com/office/drawing/2014/main" id="{F8852517-EBD6-7851-DF86-CC215B3AE093}"/>
              </a:ext>
            </a:extLst>
          </p:cNvPr>
          <p:cNvGraphicFramePr>
            <a:graphicFrameLocks noGrp="1"/>
          </p:cNvGraphicFramePr>
          <p:nvPr>
            <p:extLst>
              <p:ext uri="{D42A27DB-BD31-4B8C-83A1-F6EECF244321}">
                <p14:modId xmlns:p14="http://schemas.microsoft.com/office/powerpoint/2010/main" val="3797240422"/>
              </p:ext>
            </p:extLst>
          </p:nvPr>
        </p:nvGraphicFramePr>
        <p:xfrm>
          <a:off x="604684" y="1740310"/>
          <a:ext cx="11241548" cy="4602480"/>
        </p:xfrm>
        <a:graphic>
          <a:graphicData uri="http://schemas.openxmlformats.org/drawingml/2006/table">
            <a:tbl>
              <a:tblPr/>
              <a:tblGrid>
                <a:gridCol w="2810387">
                  <a:extLst>
                    <a:ext uri="{9D8B030D-6E8A-4147-A177-3AD203B41FA5}">
                      <a16:colId xmlns:a16="http://schemas.microsoft.com/office/drawing/2014/main" val="1000434668"/>
                    </a:ext>
                  </a:extLst>
                </a:gridCol>
                <a:gridCol w="2802849">
                  <a:extLst>
                    <a:ext uri="{9D8B030D-6E8A-4147-A177-3AD203B41FA5}">
                      <a16:colId xmlns:a16="http://schemas.microsoft.com/office/drawing/2014/main" val="236338984"/>
                    </a:ext>
                  </a:extLst>
                </a:gridCol>
                <a:gridCol w="2817925">
                  <a:extLst>
                    <a:ext uri="{9D8B030D-6E8A-4147-A177-3AD203B41FA5}">
                      <a16:colId xmlns:a16="http://schemas.microsoft.com/office/drawing/2014/main" val="543258345"/>
                    </a:ext>
                  </a:extLst>
                </a:gridCol>
                <a:gridCol w="2810387">
                  <a:extLst>
                    <a:ext uri="{9D8B030D-6E8A-4147-A177-3AD203B41FA5}">
                      <a16:colId xmlns:a16="http://schemas.microsoft.com/office/drawing/2014/main" val="1909727239"/>
                    </a:ext>
                  </a:extLst>
                </a:gridCol>
              </a:tblGrid>
              <a:tr h="277769">
                <a:tc>
                  <a:txBody>
                    <a:bodyPr/>
                    <a:lstStyle/>
                    <a:p>
                      <a:pPr>
                        <a:buNone/>
                      </a:pPr>
                      <a:r>
                        <a:rPr lang="en-IN" b="1" dirty="0"/>
                        <a:t>Author / Year</a:t>
                      </a:r>
                      <a:endParaRPr lang="en-IN" dirty="0"/>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Title</a:t>
                      </a:r>
                      <a:endParaRPr lang="en-IN" dirty="0"/>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Overall Accuracy </a:t>
                      </a:r>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Dataset </a:t>
                      </a:r>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970458292"/>
                  </a:ext>
                </a:extLst>
              </a:tr>
              <a:tr h="666645">
                <a:tc>
                  <a:txBody>
                    <a:bodyPr/>
                    <a:lstStyle/>
                    <a:p>
                      <a:pPr>
                        <a:buNone/>
                      </a:pPr>
                      <a:r>
                        <a:rPr lang="en-IN" sz="1400" b="0" i="0" u="none" strike="noStrike" cap="none" dirty="0">
                          <a:solidFill>
                            <a:schemeClr val="tx1"/>
                          </a:solidFill>
                          <a:effectLst/>
                          <a:latin typeface="+mn-lt"/>
                          <a:ea typeface="+mn-ea"/>
                          <a:cs typeface="+mn-cs"/>
                          <a:sym typeface="Arial"/>
                        </a:rPr>
                        <a:t>M. Thomas, 2012</a:t>
                      </a:r>
                      <a:endParaRPr lang="en-IN" b="0"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A Framework to Assess Remote Sensing Algorithms for Satellite-Based Flood Index Insurance</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71% – 95%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Landsat TM imagery, field survey data, aerial photography.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30511936"/>
                  </a:ext>
                </a:extLst>
              </a:tr>
              <a:tr h="1055522">
                <a:tc>
                  <a:txBody>
                    <a:bodyPr/>
                    <a:lstStyle/>
                    <a:p>
                      <a:pPr>
                        <a:buNone/>
                      </a:pPr>
                      <a:r>
                        <a:rPr lang="en-IN" sz="1400" b="0" i="0" u="none" strike="noStrike" cap="none" dirty="0">
                          <a:solidFill>
                            <a:schemeClr val="tx1"/>
                          </a:solidFill>
                          <a:effectLst/>
                          <a:latin typeface="+mn-lt"/>
                          <a:ea typeface="+mn-ea"/>
                          <a:cs typeface="+mn-cs"/>
                          <a:sym typeface="Arial"/>
                        </a:rPr>
                        <a:t>S. H. Mahir, </a:t>
                      </a:r>
                      <a:r>
                        <a:rPr lang="en-IN" dirty="0"/>
                        <a:t>2025</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Advanced Hydro-Informatic </a:t>
                      </a:r>
                      <a:r>
                        <a:rPr lang="en-IN" sz="1400" b="0" i="0" u="none" strike="noStrike" cap="none" dirty="0" err="1">
                          <a:solidFill>
                            <a:schemeClr val="tx1"/>
                          </a:solidFill>
                          <a:effectLst/>
                          <a:latin typeface="+mn-lt"/>
                          <a:ea typeface="+mn-ea"/>
                          <a:cs typeface="+mn-cs"/>
                          <a:sym typeface="Arial"/>
                        </a:rPr>
                        <a:t>Modeling</a:t>
                      </a:r>
                      <a:r>
                        <a:rPr lang="en-IN" sz="1400" b="0" i="0" u="none" strike="noStrike" cap="none" dirty="0">
                          <a:solidFill>
                            <a:schemeClr val="tx1"/>
                          </a:solidFill>
                          <a:effectLst/>
                          <a:latin typeface="+mn-lt"/>
                          <a:ea typeface="+mn-ea"/>
                          <a:cs typeface="+mn-cs"/>
                          <a:sym typeface="Arial"/>
                        </a:rPr>
                        <a:t> Through Feedforward Neural Network, Federated Learning, and Explainable AI for Enhancing Flood Prediction</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Achieved ~95% prediction accuracy for flood forecasting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Hydrological &amp; meteorological datasets (rainfall, water levels, flow data from multiple regions) </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133301708"/>
                  </a:ext>
                </a:extLst>
              </a:tr>
              <a:tr h="611716">
                <a:tc>
                  <a:txBody>
                    <a:bodyPr/>
                    <a:lstStyle/>
                    <a:p>
                      <a:pPr>
                        <a:buNone/>
                      </a:pPr>
                      <a:r>
                        <a:rPr lang="en-IN" sz="1400" b="0" i="0" u="none" strike="noStrike" cap="none" dirty="0">
                          <a:solidFill>
                            <a:schemeClr val="tx1"/>
                          </a:solidFill>
                          <a:effectLst/>
                          <a:latin typeface="+mn-lt"/>
                          <a:ea typeface="+mn-ea"/>
                          <a:cs typeface="+mn-cs"/>
                          <a:sym typeface="Arial"/>
                        </a:rPr>
                        <a:t>Y. Liu, L. Wang, S. Du, L. Zhao and X. Liu, </a:t>
                      </a:r>
                      <a:r>
                        <a:rPr lang="en-IN" dirty="0"/>
                        <a:t>2023</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Flood Forecasting Method Based on Improved VMD-FOS-QR-RBL</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Achieved prediction accuracy above 93%</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Hydrological time series data (river flow &amp; rainfall) from flood-prone regions in China</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639358894"/>
                  </a:ext>
                </a:extLst>
              </a:tr>
              <a:tr h="666645">
                <a:tc>
                  <a:txBody>
                    <a:bodyPr/>
                    <a:lstStyle/>
                    <a:p>
                      <a:pPr>
                        <a:buNone/>
                      </a:pPr>
                      <a:r>
                        <a:rPr lang="en-IN" sz="1400" b="0" i="0" u="none" strike="noStrike" cap="none" dirty="0">
                          <a:solidFill>
                            <a:schemeClr val="tx1"/>
                          </a:solidFill>
                          <a:effectLst/>
                          <a:latin typeface="+mn-lt"/>
                          <a:ea typeface="+mn-ea"/>
                          <a:cs typeface="+mn-cs"/>
                          <a:sym typeface="Arial"/>
                        </a:rPr>
                        <a:t>J. Du , </a:t>
                      </a:r>
                      <a:r>
                        <a:rPr lang="en-IN" dirty="0"/>
                        <a:t>2020</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Satellite Flood Assessment and Forecasts from SMAP and Landsat</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Reported ~90% accuracy in flood extent mapping and forecasting.</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Satellite imagery (SAR &amp; optical) + hydrological observations from flood-prone river basins</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578447961"/>
                  </a:ext>
                </a:extLst>
              </a:tr>
              <a:tr h="861084">
                <a:tc>
                  <a:txBody>
                    <a:bodyPr/>
                    <a:lstStyle/>
                    <a:p>
                      <a:pPr>
                        <a:buNone/>
                      </a:pPr>
                      <a:r>
                        <a:rPr lang="en-IN" sz="1400" b="0" i="0" u="none" strike="noStrike" cap="none" dirty="0">
                          <a:solidFill>
                            <a:schemeClr val="tx1"/>
                          </a:solidFill>
                          <a:effectLst/>
                          <a:latin typeface="+mn-lt"/>
                          <a:ea typeface="+mn-ea"/>
                          <a:cs typeface="+mn-cs"/>
                          <a:sym typeface="Arial"/>
                        </a:rPr>
                        <a:t>Y. </a:t>
                      </a:r>
                      <a:r>
                        <a:rPr lang="en-IN" sz="1400" b="0" i="0" u="none" strike="noStrike" cap="none" dirty="0" err="1">
                          <a:solidFill>
                            <a:schemeClr val="tx1"/>
                          </a:solidFill>
                          <a:effectLst/>
                          <a:latin typeface="+mn-lt"/>
                          <a:ea typeface="+mn-ea"/>
                          <a:cs typeface="+mn-cs"/>
                          <a:sym typeface="Arial"/>
                        </a:rPr>
                        <a:t>Djenouri</a:t>
                      </a:r>
                      <a:r>
                        <a:rPr lang="en-IN" sz="1400" b="0" i="0" u="none" strike="noStrike" cap="none" dirty="0">
                          <a:solidFill>
                            <a:schemeClr val="tx1"/>
                          </a:solidFill>
                          <a:effectLst/>
                          <a:latin typeface="+mn-lt"/>
                          <a:ea typeface="+mn-ea"/>
                          <a:cs typeface="+mn-cs"/>
                          <a:sym typeface="Arial"/>
                        </a:rPr>
                        <a:t>, M. </a:t>
                      </a:r>
                      <a:r>
                        <a:rPr lang="en-IN" sz="1400" b="0" i="0" u="none" strike="noStrike" cap="none" dirty="0" err="1">
                          <a:solidFill>
                            <a:schemeClr val="tx1"/>
                          </a:solidFill>
                          <a:effectLst/>
                          <a:latin typeface="+mn-lt"/>
                          <a:ea typeface="+mn-ea"/>
                          <a:cs typeface="+mn-cs"/>
                          <a:sym typeface="Arial"/>
                        </a:rPr>
                        <a:t>Godziszewski</a:t>
                      </a:r>
                      <a:r>
                        <a:rPr lang="en-IN" sz="1400" b="0" i="0" u="none" strike="noStrike" cap="none" dirty="0">
                          <a:solidFill>
                            <a:schemeClr val="tx1"/>
                          </a:solidFill>
                          <a:effectLst/>
                          <a:latin typeface="+mn-lt"/>
                          <a:ea typeface="+mn-ea"/>
                          <a:cs typeface="+mn-cs"/>
                          <a:sym typeface="Arial"/>
                        </a:rPr>
                        <a:t>, F. Andrade, G. Srivastava, A. N. Belbachir and A. Murano,   </a:t>
                      </a:r>
                      <a:r>
                        <a:rPr lang="en-IN" dirty="0"/>
                        <a:t>2024</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Game-Theoretic Consensus Deep Learning for Adaptive Flood Prediction in Digital Twin Environments</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Achieved &gt;94% forecasting accuracy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Multi-source hydrological datasets (rainfall, discharge, water levels) from flood prone regions</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25672793"/>
                  </a:ext>
                </a:extLst>
              </a:tr>
            </a:tbl>
          </a:graphicData>
        </a:graphic>
      </p:graphicFrame>
    </p:spTree>
    <p:extLst>
      <p:ext uri="{BB962C8B-B14F-4D97-AF65-F5344CB8AC3E}">
        <p14:creationId xmlns:p14="http://schemas.microsoft.com/office/powerpoint/2010/main" val="4291207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76D9191-5A54-F2E8-E85A-6631084B31BD}"/>
              </a:ext>
            </a:extLst>
          </p:cNvPr>
          <p:cNvGraphicFramePr>
            <a:graphicFrameLocks noGrp="1"/>
          </p:cNvGraphicFramePr>
          <p:nvPr>
            <p:extLst>
              <p:ext uri="{D42A27DB-BD31-4B8C-83A1-F6EECF244321}">
                <p14:modId xmlns:p14="http://schemas.microsoft.com/office/powerpoint/2010/main" val="3275142698"/>
              </p:ext>
            </p:extLst>
          </p:nvPr>
        </p:nvGraphicFramePr>
        <p:xfrm>
          <a:off x="320040" y="1005749"/>
          <a:ext cx="11109959" cy="5669280"/>
        </p:xfrm>
        <a:graphic>
          <a:graphicData uri="http://schemas.openxmlformats.org/drawingml/2006/table">
            <a:tbl>
              <a:tblPr/>
              <a:tblGrid>
                <a:gridCol w="2777490">
                  <a:extLst>
                    <a:ext uri="{9D8B030D-6E8A-4147-A177-3AD203B41FA5}">
                      <a16:colId xmlns:a16="http://schemas.microsoft.com/office/drawing/2014/main" val="2799547534"/>
                    </a:ext>
                  </a:extLst>
                </a:gridCol>
                <a:gridCol w="2841810">
                  <a:extLst>
                    <a:ext uri="{9D8B030D-6E8A-4147-A177-3AD203B41FA5}">
                      <a16:colId xmlns:a16="http://schemas.microsoft.com/office/drawing/2014/main" val="1732581266"/>
                    </a:ext>
                  </a:extLst>
                </a:gridCol>
                <a:gridCol w="2659413">
                  <a:extLst>
                    <a:ext uri="{9D8B030D-6E8A-4147-A177-3AD203B41FA5}">
                      <a16:colId xmlns:a16="http://schemas.microsoft.com/office/drawing/2014/main" val="1302753376"/>
                    </a:ext>
                  </a:extLst>
                </a:gridCol>
                <a:gridCol w="2831246">
                  <a:extLst>
                    <a:ext uri="{9D8B030D-6E8A-4147-A177-3AD203B41FA5}">
                      <a16:colId xmlns:a16="http://schemas.microsoft.com/office/drawing/2014/main" val="136821715"/>
                    </a:ext>
                  </a:extLst>
                </a:gridCol>
              </a:tblGrid>
              <a:tr h="286585">
                <a:tc>
                  <a:txBody>
                    <a:bodyPr/>
                    <a:lstStyle/>
                    <a:p>
                      <a:pPr>
                        <a:buNone/>
                      </a:pPr>
                      <a:r>
                        <a:rPr lang="en-IN" b="1"/>
                        <a:t>Author / Year</a:t>
                      </a:r>
                      <a:endParaRPr lang="en-IN"/>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a:t>Title</a:t>
                      </a:r>
                      <a:endParaRPr lang="en-IN"/>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Overall Accuracy </a:t>
                      </a:r>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b="1" dirty="0"/>
                        <a:t>Dataset </a:t>
                      </a:r>
                    </a:p>
                  </a:txBody>
                  <a:tcPr anchor="ctr">
                    <a:lnL>
                      <a:noFill/>
                    </a:lnL>
                    <a:lnR>
                      <a:noFill/>
                    </a:lnR>
                    <a:lnT>
                      <a:noFill/>
                    </a:lnT>
                    <a:lnB>
                      <a:noFill/>
                    </a:lnB>
                    <a:gradFill>
                      <a:gsLst>
                        <a:gs pos="0">
                          <a:schemeClr val="bg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20000069"/>
                  </a:ext>
                </a:extLst>
              </a:tr>
              <a:tr h="888414">
                <a:tc>
                  <a:txBody>
                    <a:bodyPr/>
                    <a:lstStyle/>
                    <a:p>
                      <a:pPr>
                        <a:buNone/>
                      </a:pPr>
                      <a:r>
                        <a:rPr lang="en-IN" dirty="0"/>
                        <a:t> </a:t>
                      </a:r>
                      <a:r>
                        <a:rPr lang="en-IN" sz="1400" b="0" i="0" u="none" strike="noStrike" cap="none" dirty="0">
                          <a:solidFill>
                            <a:schemeClr val="tx1"/>
                          </a:solidFill>
                          <a:effectLst/>
                          <a:latin typeface="+mn-lt"/>
                          <a:ea typeface="+mn-ea"/>
                          <a:cs typeface="+mn-cs"/>
                          <a:sym typeface="Arial"/>
                        </a:rPr>
                        <a:t>N. Akhtar, </a:t>
                      </a:r>
                      <a:r>
                        <a:rPr lang="en-IN" dirty="0"/>
                        <a:t>2019</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Hierarchical Coloured Petri-Net Based Multi-Agent System for Flood Monitoring, Prediction, and Rescue (FMPR)</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Reported ~88% forecasting accuracy </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Hydrological datasets (rainfall, river discharge, water levels) from case-study river basins. </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173680004"/>
                  </a:ext>
                </a:extLst>
              </a:tr>
              <a:tr h="1089024">
                <a:tc>
                  <a:txBody>
                    <a:bodyPr/>
                    <a:lstStyle/>
                    <a:p>
                      <a:pPr>
                        <a:buNone/>
                      </a:pPr>
                      <a:r>
                        <a:rPr lang="en-IN" sz="1400" b="0" i="0" u="none" strike="noStrike" cap="none" dirty="0">
                          <a:solidFill>
                            <a:schemeClr val="tx1"/>
                          </a:solidFill>
                          <a:effectLst/>
                          <a:latin typeface="+mn-lt"/>
                          <a:ea typeface="+mn-ea"/>
                          <a:cs typeface="+mn-cs"/>
                          <a:sym typeface="Arial"/>
                        </a:rPr>
                        <a:t>Z. Jiao, B. Chen, Z. Zhang and L. Wu, </a:t>
                      </a:r>
                      <a:r>
                        <a:rPr lang="en-IN" dirty="0"/>
                        <a:t>2021</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Sample-Adjusted Threshold Calculation (SATC) for Optimizing Flood Mapping From a Trustworthy and Explainable Perspective</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dirty="0"/>
                        <a:t>Reported ~91% forecasting accuracy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Hydrological datasets (rainfall &amp; river flow) from multiple flood affected regions </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41183083"/>
                  </a:ext>
                </a:extLst>
              </a:tr>
              <a:tr h="888414">
                <a:tc>
                  <a:txBody>
                    <a:bodyPr/>
                    <a:lstStyle/>
                    <a:p>
                      <a:pPr>
                        <a:buNone/>
                      </a:pPr>
                      <a:r>
                        <a:rPr lang="en-IN" sz="1400" b="0" i="0" u="none" strike="noStrike" cap="none" dirty="0">
                          <a:solidFill>
                            <a:schemeClr val="tx1"/>
                          </a:solidFill>
                          <a:effectLst/>
                          <a:latin typeface="+mn-lt"/>
                          <a:ea typeface="+mn-ea"/>
                          <a:cs typeface="+mn-cs"/>
                          <a:sym typeface="Arial"/>
                        </a:rPr>
                        <a:t>P. Yang, X. Xu, M. Shao and Y. Liu, </a:t>
                      </a:r>
                      <a:r>
                        <a:rPr lang="en-IN" dirty="0"/>
                        <a:t>2024</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Intelligent Prediction of Flood Disaster Risk Levels Based on Knowledge Graph and Graph Neural Networks</a:t>
                      </a:r>
                      <a:endParaRPr lang="en-US"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The GNN-Risk model achieved an accuracy of 89%.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9,000 records of mountain flood disaster data from Jiangxi Province. The data includes geographical location, risk type, and historical events. </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391680338"/>
                  </a:ext>
                </a:extLst>
              </a:tr>
              <a:tr h="888414">
                <a:tc>
                  <a:txBody>
                    <a:bodyPr/>
                    <a:lstStyle/>
                    <a:p>
                      <a:pPr>
                        <a:buNone/>
                      </a:pPr>
                      <a:r>
                        <a:rPr lang="en-IN" sz="1400" b="0" i="0" u="none" strike="noStrike" cap="none" dirty="0">
                          <a:solidFill>
                            <a:schemeClr val="tx1"/>
                          </a:solidFill>
                          <a:effectLst/>
                          <a:latin typeface="+mn-lt"/>
                          <a:ea typeface="+mn-ea"/>
                          <a:cs typeface="+mn-cs"/>
                          <a:sym typeface="Arial"/>
                        </a:rPr>
                        <a:t>S. </a:t>
                      </a:r>
                      <a:r>
                        <a:rPr lang="en-IN" sz="1400" b="0" i="0" u="none" strike="noStrike" cap="none" dirty="0" err="1">
                          <a:solidFill>
                            <a:schemeClr val="tx1"/>
                          </a:solidFill>
                          <a:effectLst/>
                          <a:latin typeface="+mn-lt"/>
                          <a:ea typeface="+mn-ea"/>
                          <a:cs typeface="+mn-cs"/>
                          <a:sym typeface="Arial"/>
                        </a:rPr>
                        <a:t>Puttinaovarat</a:t>
                      </a:r>
                      <a:r>
                        <a:rPr lang="en-IN" sz="1400" b="0" i="0" u="none" strike="noStrike" cap="none" dirty="0">
                          <a:solidFill>
                            <a:schemeClr val="tx1"/>
                          </a:solidFill>
                          <a:effectLst/>
                          <a:latin typeface="+mn-lt"/>
                          <a:ea typeface="+mn-ea"/>
                          <a:cs typeface="+mn-cs"/>
                          <a:sym typeface="Arial"/>
                        </a:rPr>
                        <a:t> and P. </a:t>
                      </a:r>
                      <a:r>
                        <a:rPr lang="en-IN" sz="1400" b="0" i="0" u="none" strike="noStrike" cap="none" dirty="0" err="1">
                          <a:solidFill>
                            <a:schemeClr val="tx1"/>
                          </a:solidFill>
                          <a:effectLst/>
                          <a:latin typeface="+mn-lt"/>
                          <a:ea typeface="+mn-ea"/>
                          <a:cs typeface="+mn-cs"/>
                          <a:sym typeface="Arial"/>
                        </a:rPr>
                        <a:t>Horkaew</a:t>
                      </a:r>
                      <a:r>
                        <a:rPr lang="en-IN" sz="1400" b="0" i="0" u="none" strike="noStrike" cap="none" dirty="0">
                          <a:solidFill>
                            <a:schemeClr val="tx1"/>
                          </a:solidFill>
                          <a:effectLst/>
                          <a:latin typeface="+mn-lt"/>
                          <a:ea typeface="+mn-ea"/>
                          <a:cs typeface="+mn-cs"/>
                          <a:sym typeface="Arial"/>
                        </a:rPr>
                        <a:t>, </a:t>
                      </a:r>
                      <a:r>
                        <a:rPr lang="en-IN" dirty="0"/>
                        <a:t>2020</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Flood Forecasting System Based on Integrated Big and Crowdsource Data by Using Machine Learning Techniques</a:t>
                      </a:r>
                      <a:endParaRPr lang="it-IT"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MLP ANN, with a correct percentage of 97.83% and a Kappa value of 0.89. The MAE was 0.01 and RMSE was 0.10 </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Meteorological, hydrological, geospatial, and crowdsource data from two provinces in Thailand</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70261565"/>
                  </a:ext>
                </a:extLst>
              </a:tr>
              <a:tr h="1089024">
                <a:tc>
                  <a:txBody>
                    <a:bodyPr/>
                    <a:lstStyle/>
                    <a:p>
                      <a:pPr>
                        <a:buNone/>
                      </a:pPr>
                      <a:r>
                        <a:rPr lang="en-IN" sz="1400" b="0" i="0" u="none" strike="noStrike" cap="none" dirty="0">
                          <a:solidFill>
                            <a:schemeClr val="tx1"/>
                          </a:solidFill>
                          <a:effectLst/>
                          <a:latin typeface="+mn-lt"/>
                          <a:ea typeface="+mn-ea"/>
                          <a:cs typeface="+mn-cs"/>
                          <a:sym typeface="Arial"/>
                        </a:rPr>
                        <a:t>D. H. Nguyen, X. Hien Le, J. -Y. Heo and D. -H. Bae, </a:t>
                      </a:r>
                      <a:r>
                        <a:rPr lang="en-IN" dirty="0"/>
                        <a:t>2021</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IN" sz="1400" b="0" i="0" u="none" strike="noStrike" cap="none" dirty="0">
                          <a:solidFill>
                            <a:schemeClr val="tx1"/>
                          </a:solidFill>
                          <a:effectLst/>
                          <a:latin typeface="+mn-lt"/>
                          <a:ea typeface="+mn-ea"/>
                          <a:cs typeface="+mn-cs"/>
                          <a:sym typeface="Arial"/>
                        </a:rPr>
                        <a:t>Development of an Extreme Gradient Boosting Model Integrated With Evolutionary Algorithms for Hourly Water Level Prediction</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Relative error (MAPE) ranged from 2.18% to 9.21%</a:t>
                      </a:r>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buNone/>
                      </a:pPr>
                      <a:r>
                        <a:rPr lang="en-US" dirty="0"/>
                        <a:t>Hourly rainfall and water level data from 2003 to 2020 for the </a:t>
                      </a:r>
                      <a:r>
                        <a:rPr lang="en-US" dirty="0" err="1"/>
                        <a:t>Jungrang</a:t>
                      </a:r>
                      <a:r>
                        <a:rPr lang="en-US" dirty="0"/>
                        <a:t> urban basin in South Korea </a:t>
                      </a:r>
                      <a:endParaRPr lang="en-IN" dirty="0"/>
                    </a:p>
                  </a:txBody>
                  <a:tcPr anchor="ctr">
                    <a:lnL>
                      <a:noFill/>
                    </a:lnL>
                    <a:lnR>
                      <a:noFill/>
                    </a:lnR>
                    <a:lnT>
                      <a:noFill/>
                    </a:lnT>
                    <a:lnB>
                      <a:noFill/>
                    </a:lnB>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672747847"/>
                  </a:ext>
                </a:extLst>
              </a:tr>
            </a:tbl>
          </a:graphicData>
        </a:graphic>
      </p:graphicFrame>
      <p:sp>
        <p:nvSpPr>
          <p:cNvPr id="5" name="Title 1">
            <a:extLst>
              <a:ext uri="{FF2B5EF4-FFF2-40B4-BE49-F238E27FC236}">
                <a16:creationId xmlns:a16="http://schemas.microsoft.com/office/drawing/2014/main" id="{095328FB-4D62-48FB-CF5A-45C9140A4D24}"/>
              </a:ext>
            </a:extLst>
          </p:cNvPr>
          <p:cNvSpPr>
            <a:spLocks noGrp="1"/>
          </p:cNvSpPr>
          <p:nvPr>
            <p:ph type="title"/>
          </p:nvPr>
        </p:nvSpPr>
        <p:spPr>
          <a:xfrm>
            <a:off x="762000" y="518249"/>
            <a:ext cx="10668000" cy="487500"/>
          </a:xfrm>
        </p:spPr>
        <p:txBody>
          <a:bodyPr/>
          <a:lstStyle/>
          <a:p>
            <a:r>
              <a:rPr lang="en-US" dirty="0">
                <a:latin typeface="Cambria" panose="02040503050406030204" pitchFamily="18" charset="0"/>
                <a:ea typeface="Cambria" panose="02040503050406030204" pitchFamily="18" charset="0"/>
              </a:rPr>
              <a:t>Literature Survey</a:t>
            </a:r>
            <a:br>
              <a:rPr lang="en-US" dirty="0">
                <a:latin typeface="Cambria" panose="02040503050406030204" pitchFamily="18" charset="0"/>
                <a:ea typeface="Cambria" panose="02040503050406030204" pitchFamily="18" charset="0"/>
              </a:rPr>
            </a:br>
            <a:endParaRPr lang="en-IN" dirty="0"/>
          </a:p>
        </p:txBody>
      </p:sp>
    </p:spTree>
    <p:extLst>
      <p:ext uri="{BB962C8B-B14F-4D97-AF65-F5344CB8AC3E}">
        <p14:creationId xmlns:p14="http://schemas.microsoft.com/office/powerpoint/2010/main" val="1756370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153E-96E1-15B9-3170-4251EC233B54}"/>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56155B2A-AA61-F928-122F-E8C10013BAD6}"/>
              </a:ext>
            </a:extLst>
          </p:cNvPr>
          <p:cNvSpPr>
            <a:spLocks noGrp="1" noChangeArrowheads="1"/>
          </p:cNvSpPr>
          <p:nvPr>
            <p:ph type="body" idx="1"/>
          </p:nvPr>
        </p:nvSpPr>
        <p:spPr bwMode="auto">
          <a:xfrm>
            <a:off x="681703" y="-1057846"/>
            <a:ext cx="11300542"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95300" lvl="0" indent="-342900" algn="just">
              <a:lnSpc>
                <a:spcPct val="200000"/>
              </a:lnSpc>
              <a:spcBef>
                <a:spcPts val="0"/>
              </a:spcBef>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495300" lvl="0" indent="-342900" algn="just">
              <a:lnSpc>
                <a:spcPct val="200000"/>
              </a:lnSpc>
              <a:spcBef>
                <a:spcPts val="0"/>
              </a:spcBef>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To collect and preprocess diverse flood-related datasets, including rainfall, river water </a:t>
            </a:r>
            <a:r>
              <a:rPr lang="en-US" sz="2000" dirty="0" err="1">
                <a:latin typeface="Calibri" panose="020F0502020204030204" pitchFamily="34" charset="0"/>
                <a:ea typeface="Calibri" panose="020F0502020204030204" pitchFamily="34" charset="0"/>
                <a:cs typeface="Calibri" panose="020F0502020204030204" pitchFamily="34" charset="0"/>
              </a:rPr>
              <a:t>levels,temperature</a:t>
            </a:r>
            <a:r>
              <a:rPr lang="en-US" sz="2000" dirty="0">
                <a:latin typeface="Calibri" panose="020F0502020204030204" pitchFamily="34" charset="0"/>
                <a:ea typeface="Calibri" panose="020F0502020204030204" pitchFamily="34" charset="0"/>
                <a:cs typeface="Calibri" panose="020F0502020204030204" pitchFamily="34" charset="0"/>
              </a:rPr>
              <a:t>, and historical flood records.</a:t>
            </a:r>
          </a:p>
          <a:p>
            <a:pPr marL="495300" lvl="0" indent="-342900" algn="just">
              <a:lnSpc>
                <a:spcPct val="200000"/>
              </a:lnSpc>
              <a:spcBef>
                <a:spcPts val="0"/>
              </a:spcBef>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To </a:t>
            </a:r>
            <a:r>
              <a:rPr lang="en-US" sz="2000" dirty="0" err="1">
                <a:latin typeface="Calibri" panose="020F0502020204030204" pitchFamily="34" charset="0"/>
                <a:ea typeface="Calibri" panose="020F0502020204030204" pitchFamily="34" charset="0"/>
                <a:cs typeface="Calibri" panose="020F0502020204030204" pitchFamily="34" charset="0"/>
              </a:rPr>
              <a:t>analyse</a:t>
            </a:r>
            <a:r>
              <a:rPr lang="en-US" sz="2000" dirty="0">
                <a:latin typeface="Calibri" panose="020F0502020204030204" pitchFamily="34" charset="0"/>
                <a:ea typeface="Calibri" panose="020F0502020204030204" pitchFamily="34" charset="0"/>
                <a:cs typeface="Calibri" panose="020F0502020204030204" pitchFamily="34" charset="0"/>
              </a:rPr>
              <a:t> and evaluate model performance based on accuracy, precision, and recall to determine the most effective approach.</a:t>
            </a:r>
          </a:p>
          <a:p>
            <a:pPr marL="495300" lvl="0" indent="-342900" algn="just">
              <a:lnSpc>
                <a:spcPct val="200000"/>
              </a:lnSpc>
              <a:spcBef>
                <a:spcPts val="0"/>
              </a:spcBef>
              <a:buFont typeface="Wingdings" panose="05000000000000000000" pitchFamily="2" charset="2"/>
              <a:buChar char="Ø"/>
            </a:pPr>
            <a:r>
              <a:rPr lang="en-US" sz="2000" dirty="0">
                <a:latin typeface="Calibri" panose="020F0502020204030204" pitchFamily="34" charset="0"/>
                <a:ea typeface="Calibri" panose="020F0502020204030204" pitchFamily="34" charset="0"/>
                <a:cs typeface="Calibri" panose="020F0502020204030204" pitchFamily="34" charset="0"/>
              </a:rPr>
              <a:t>To develop a real-time flood forecasting system capable of providing early warnings for high-risk areas.</a:t>
            </a:r>
          </a:p>
          <a:p>
            <a:pPr marL="495300" lvl="0" indent="-342900" algn="just">
              <a:lnSpc>
                <a:spcPct val="200000"/>
              </a:lnSpc>
              <a:spcBef>
                <a:spcPts val="0"/>
              </a:spcBef>
              <a:buFont typeface="Wingdings" panose="05000000000000000000" pitchFamily="2" charset="2"/>
              <a:buChar char="Ø"/>
            </a:pPr>
            <a:r>
              <a:rPr lang="en-US" sz="1800" dirty="0"/>
              <a:t>To implement and compare multiple machine learning models (e.g. K-means, </a:t>
            </a:r>
            <a:r>
              <a:rPr lang="en-US" sz="1800" dirty="0" err="1"/>
              <a:t>XGBoost</a:t>
            </a:r>
            <a:r>
              <a:rPr lang="en-US" sz="1800" dirty="0"/>
              <a:t>) for flood prediction.</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8646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F2F62-D827-5142-EC4E-56D8DC72D49F}"/>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Existing Methods and Drawbacks</a:t>
            </a:r>
            <a:endParaRPr lang="en-IN" dirty="0"/>
          </a:p>
        </p:txBody>
      </p:sp>
      <p:sp>
        <p:nvSpPr>
          <p:cNvPr id="3" name="Text Placeholder 2">
            <a:extLst>
              <a:ext uri="{FF2B5EF4-FFF2-40B4-BE49-F238E27FC236}">
                <a16:creationId xmlns:a16="http://schemas.microsoft.com/office/drawing/2014/main" id="{EA80B8BC-3C7E-6F3E-514B-D98CAABBA7F4}"/>
              </a:ext>
            </a:extLst>
          </p:cNvPr>
          <p:cNvSpPr>
            <a:spLocks noGrp="1"/>
          </p:cNvSpPr>
          <p:nvPr>
            <p:ph type="body" idx="1"/>
          </p:nvPr>
        </p:nvSpPr>
        <p:spPr/>
        <p:txBody>
          <a:bodyPr>
            <a:normAutofit/>
          </a:bodyPr>
          <a:lstStyle/>
          <a:p>
            <a:pPr marL="76200" indent="0">
              <a:buNone/>
            </a:pPr>
            <a:r>
              <a:rPr lang="en-US" sz="2200" b="1" dirty="0">
                <a:latin typeface="Cambria" panose="02040503050406030204" pitchFamily="18" charset="0"/>
                <a:ea typeface="Cambria" panose="02040503050406030204" pitchFamily="18" charset="0"/>
              </a:rPr>
              <a:t>Existing </a:t>
            </a:r>
            <a:r>
              <a:rPr lang="en-IN" sz="2200" b="1" dirty="0">
                <a:latin typeface="Calibri" panose="020F0502020204030204" pitchFamily="34" charset="0"/>
                <a:ea typeface="Calibri" panose="020F0502020204030204" pitchFamily="34" charset="0"/>
                <a:cs typeface="Calibri" panose="020F0502020204030204" pitchFamily="34" charset="0"/>
              </a:rPr>
              <a:t>Applications Studied</a:t>
            </a:r>
            <a:r>
              <a:rPr lang="en-IN" sz="2000" b="1" dirty="0">
                <a:latin typeface="Calibri" panose="020F0502020204030204" pitchFamily="34" charset="0"/>
                <a:ea typeface="Calibri" panose="020F0502020204030204" pitchFamily="34" charset="0"/>
                <a:cs typeface="Calibri" panose="020F0502020204030204" pitchFamily="34" charset="0"/>
              </a:rPr>
              <a:t>:</a:t>
            </a:r>
          </a:p>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Janaspandana, iPGRS, Namma Bengaluru, Grama One, Karnataka One, Sakala.</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q"/>
            </a:pPr>
            <a:r>
              <a:rPr lang="en-IN" sz="2200" b="1" dirty="0">
                <a:latin typeface="Calibri" panose="020F0502020204030204" pitchFamily="34" charset="0"/>
                <a:ea typeface="Calibri" panose="020F0502020204030204" pitchFamily="34" charset="0"/>
                <a:cs typeface="Calibri" panose="020F0502020204030204" pitchFamily="34" charset="0"/>
              </a:rPr>
              <a:t>Key Drawbacks:</a:t>
            </a:r>
            <a:endParaRPr lang="en-IN" sz="20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t>Poor connectivity in rural areas</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No search bar or voice search functionality.</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No voice-to-text for complaint descriptions.</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Image upload issues: Restrictive 5MB limit, no delete/cancel option.</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No 'reopen' option for unresolved complaints.</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Technical glitches and frequent downtime.</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Lack of integration with helplines like 1902.</a:t>
            </a:r>
          </a:p>
          <a:p>
            <a:pPr>
              <a:buFont typeface="Arial" panose="020B0604020202020204" pitchFamily="34" charset="0"/>
              <a:buChar char="•"/>
            </a:pPr>
            <a:r>
              <a:rPr lang="en-IN" sz="2000" dirty="0">
                <a:latin typeface="Calibri" panose="020F0502020204030204" pitchFamily="34" charset="0"/>
                <a:ea typeface="Calibri" panose="020F0502020204030204" pitchFamily="34" charset="0"/>
                <a:cs typeface="Calibri" panose="020F0502020204030204" pitchFamily="34" charset="0"/>
              </a:rPr>
              <a:t>Absence of AI/chatbot support.</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7002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810AA-3946-CB9C-6721-C62BACB91582}"/>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Proposed </a:t>
            </a:r>
            <a:r>
              <a:rPr lang="en-US" dirty="0">
                <a:latin typeface="Calibri" panose="020F0502020204030204" pitchFamily="34" charset="0"/>
                <a:ea typeface="Calibri" panose="020F0502020204030204" pitchFamily="34" charset="0"/>
                <a:cs typeface="Calibri" panose="020F0502020204030204" pitchFamily="34" charset="0"/>
              </a:rPr>
              <a:t>Methods </a:t>
            </a:r>
            <a:r>
              <a:rPr lang="en-IN" dirty="0">
                <a:latin typeface="Calibri" panose="020F0502020204030204" pitchFamily="34" charset="0"/>
                <a:ea typeface="Calibri" panose="020F0502020204030204" pitchFamily="34" charset="0"/>
                <a:cs typeface="Calibri" panose="020F0502020204030204" pitchFamily="34" charset="0"/>
              </a:rPr>
              <a:t>&amp; Feasibility</a:t>
            </a:r>
          </a:p>
        </p:txBody>
      </p:sp>
      <p:sp>
        <p:nvSpPr>
          <p:cNvPr id="3" name="Text Placeholder 2">
            <a:extLst>
              <a:ext uri="{FF2B5EF4-FFF2-40B4-BE49-F238E27FC236}">
                <a16:creationId xmlns:a16="http://schemas.microsoft.com/office/drawing/2014/main" id="{ED9E8FD8-D6C9-B9B8-6E67-9D8723954D5C}"/>
              </a:ext>
            </a:extLst>
          </p:cNvPr>
          <p:cNvSpPr>
            <a:spLocks noGrp="1"/>
          </p:cNvSpPr>
          <p:nvPr>
            <p:ph type="body" idx="1"/>
          </p:nvPr>
        </p:nvSpPr>
        <p:spPr>
          <a:xfrm>
            <a:off x="812800" y="1074175"/>
            <a:ext cx="10668000" cy="4953000"/>
          </a:xfrm>
        </p:spPr>
        <p:txBody>
          <a:bodyPr>
            <a:normAutofit fontScale="92500"/>
          </a:bodyPr>
          <a:lstStyle/>
          <a:p>
            <a:pPr marL="76200" indent="0">
              <a:buNone/>
            </a:pPr>
            <a:r>
              <a:rPr lang="en-US" sz="2600" b="1" dirty="0">
                <a:latin typeface="Calibri" panose="020F0502020204030204" pitchFamily="34" charset="0"/>
                <a:ea typeface="Calibri" panose="020F0502020204030204" pitchFamily="34" charset="0"/>
                <a:cs typeface="Calibri" panose="020F0502020204030204" pitchFamily="34" charset="0"/>
              </a:rPr>
              <a:t>Innovations &amp; Solutions:</a:t>
            </a:r>
          </a:p>
          <a:p>
            <a:endParaRPr lang="en-US" sz="500" b="1" dirty="0">
              <a:latin typeface="Calibri" panose="020F0502020204030204" pitchFamily="34" charset="0"/>
              <a:ea typeface="Calibri" panose="020F0502020204030204" pitchFamily="34" charset="0"/>
              <a:cs typeface="Calibri" panose="020F0502020204030204" pitchFamily="34" charset="0"/>
            </a:endParaRPr>
          </a:p>
          <a:p>
            <a:r>
              <a:rPr lang="en-US" sz="2200" b="1" dirty="0">
                <a:latin typeface="Calibri" panose="020F0502020204030204" pitchFamily="34" charset="0"/>
                <a:ea typeface="Calibri" panose="020F0502020204030204" pitchFamily="34" charset="0"/>
                <a:cs typeface="Calibri" panose="020F0502020204030204" pitchFamily="34" charset="0"/>
              </a:rPr>
              <a:t>Voice-to-text support</a:t>
            </a:r>
            <a:r>
              <a:rPr lang="en-US" sz="2200" dirty="0">
                <a:latin typeface="Calibri" panose="020F0502020204030204" pitchFamily="34" charset="0"/>
                <a:ea typeface="Calibri" panose="020F0502020204030204" pitchFamily="34" charset="0"/>
                <a:cs typeface="Calibri" panose="020F0502020204030204" pitchFamily="34" charset="0"/>
              </a:rPr>
              <a:t> (AI/ML-based) for complaint descriptions.</a:t>
            </a:r>
          </a:p>
          <a:p>
            <a:r>
              <a:rPr lang="en-US" sz="2200" b="1" dirty="0">
                <a:latin typeface="Calibri" panose="020F0502020204030204" pitchFamily="34" charset="0"/>
                <a:ea typeface="Calibri" panose="020F0502020204030204" pitchFamily="34" charset="0"/>
                <a:cs typeface="Calibri" panose="020F0502020204030204" pitchFamily="34" charset="0"/>
              </a:rPr>
              <a:t>Smart search bar</a:t>
            </a:r>
            <a:r>
              <a:rPr lang="en-US" sz="2200" dirty="0">
                <a:latin typeface="Calibri" panose="020F0502020204030204" pitchFamily="34" charset="0"/>
                <a:ea typeface="Calibri" panose="020F0502020204030204" pitchFamily="34" charset="0"/>
                <a:cs typeface="Calibri" panose="020F0502020204030204" pitchFamily="34" charset="0"/>
              </a:rPr>
              <a:t> with mic for multilingual queries.</a:t>
            </a:r>
          </a:p>
          <a:p>
            <a:r>
              <a:rPr lang="en-US" sz="2200" b="1" dirty="0">
                <a:latin typeface="Calibri" panose="020F0502020204030204" pitchFamily="34" charset="0"/>
                <a:ea typeface="Calibri" panose="020F0502020204030204" pitchFamily="34" charset="0"/>
                <a:cs typeface="Calibri" panose="020F0502020204030204" pitchFamily="34" charset="0"/>
              </a:rPr>
              <a:t>Improved image upload</a:t>
            </a:r>
            <a:r>
              <a:rPr lang="en-US" sz="2200" dirty="0">
                <a:latin typeface="Calibri" panose="020F0502020204030204" pitchFamily="34" charset="0"/>
                <a:ea typeface="Calibri" panose="020F0502020204030204" pitchFamily="34" charset="0"/>
                <a:cs typeface="Calibri" panose="020F0502020204030204" pitchFamily="34" charset="0"/>
              </a:rPr>
              <a:t> with compression and a delete option.</a:t>
            </a:r>
          </a:p>
          <a:p>
            <a:r>
              <a:rPr lang="en-US" sz="2200" b="1" dirty="0">
                <a:latin typeface="Calibri" panose="020F0502020204030204" pitchFamily="34" charset="0"/>
                <a:ea typeface="Calibri" panose="020F0502020204030204" pitchFamily="34" charset="0"/>
                <a:cs typeface="Calibri" panose="020F0502020204030204" pitchFamily="34" charset="0"/>
              </a:rPr>
              <a:t>Reopen grievance option</a:t>
            </a:r>
            <a:r>
              <a:rPr lang="en-US" sz="2200" dirty="0">
                <a:latin typeface="Calibri" panose="020F0502020204030204" pitchFamily="34" charset="0"/>
                <a:ea typeface="Calibri" panose="020F0502020204030204" pitchFamily="34" charset="0"/>
                <a:cs typeface="Calibri" panose="020F0502020204030204" pitchFamily="34" charset="0"/>
              </a:rPr>
              <a:t> for transparency and accountability.</a:t>
            </a:r>
          </a:p>
          <a:p>
            <a:r>
              <a:rPr lang="en-US" sz="2200" b="1" dirty="0">
                <a:latin typeface="Calibri" panose="020F0502020204030204" pitchFamily="34" charset="0"/>
                <a:ea typeface="Calibri" panose="020F0502020204030204" pitchFamily="34" charset="0"/>
                <a:cs typeface="Calibri" panose="020F0502020204030204" pitchFamily="34" charset="0"/>
              </a:rPr>
              <a:t>1902 Helpline integration</a:t>
            </a:r>
            <a:r>
              <a:rPr lang="en-US" sz="2200" dirty="0">
                <a:latin typeface="Calibri" panose="020F0502020204030204" pitchFamily="34" charset="0"/>
                <a:ea typeface="Calibri" panose="020F0502020204030204" pitchFamily="34" charset="0"/>
                <a:cs typeface="Calibri" panose="020F0502020204030204" pitchFamily="34" charset="0"/>
              </a:rPr>
              <a:t> and a call-back request feature.</a:t>
            </a:r>
          </a:p>
          <a:p>
            <a:r>
              <a:rPr lang="en-US" sz="2200" b="1" dirty="0">
                <a:latin typeface="Calibri" panose="020F0502020204030204" pitchFamily="34" charset="0"/>
                <a:ea typeface="Calibri" panose="020F0502020204030204" pitchFamily="34" charset="0"/>
                <a:cs typeface="Calibri" panose="020F0502020204030204" pitchFamily="34" charset="0"/>
              </a:rPr>
              <a:t>AI Chatbot</a:t>
            </a:r>
            <a:r>
              <a:rPr lang="en-US" sz="2200" dirty="0">
                <a:latin typeface="Calibri" panose="020F0502020204030204" pitchFamily="34" charset="0"/>
                <a:ea typeface="Calibri" panose="020F0502020204030204" pitchFamily="34" charset="0"/>
                <a:cs typeface="Calibri" panose="020F0502020204030204" pitchFamily="34" charset="0"/>
              </a:rPr>
              <a:t> for instant assistance.</a:t>
            </a:r>
          </a:p>
          <a:p>
            <a:pPr marL="76200" indent="0">
              <a:buNone/>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76200" indent="0">
              <a:buNone/>
            </a:pPr>
            <a:endParaRPr lang="en-US" sz="5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b="1" dirty="0">
                <a:latin typeface="Calibri" panose="020F0502020204030204" pitchFamily="34" charset="0"/>
                <a:ea typeface="Calibri" panose="020F0502020204030204" pitchFamily="34" charset="0"/>
                <a:cs typeface="Calibri" panose="020F0502020204030204" pitchFamily="34" charset="0"/>
              </a:rPr>
              <a:t>Feasibility:</a:t>
            </a:r>
            <a:endParaRPr lang="en-US" sz="2200" dirty="0">
              <a:latin typeface="Calibri" panose="020F0502020204030204" pitchFamily="34" charset="0"/>
              <a:ea typeface="Calibri" panose="020F0502020204030204" pitchFamily="34" charset="0"/>
              <a:cs typeface="Calibri" panose="020F0502020204030204" pitchFamily="34" charset="0"/>
            </a:endParaRPr>
          </a:p>
          <a:p>
            <a:r>
              <a:rPr lang="en-US" sz="2200" b="1" dirty="0">
                <a:latin typeface="Calibri" panose="020F0502020204030204" pitchFamily="34" charset="0"/>
                <a:ea typeface="Calibri" panose="020F0502020204030204" pitchFamily="34" charset="0"/>
                <a:cs typeface="Calibri" panose="020F0502020204030204" pitchFamily="34" charset="0"/>
              </a:rPr>
              <a:t>Cost Feasibility:</a:t>
            </a:r>
            <a:r>
              <a:rPr lang="en-US" sz="2200" dirty="0">
                <a:latin typeface="Calibri" panose="020F0502020204030204" pitchFamily="34" charset="0"/>
                <a:ea typeface="Calibri" panose="020F0502020204030204" pitchFamily="34" charset="0"/>
                <a:cs typeface="Calibri" panose="020F0502020204030204" pitchFamily="34" charset="0"/>
              </a:rPr>
              <a:t> </a:t>
            </a:r>
            <a:r>
              <a:rPr lang="en-US" sz="1700" dirty="0"/>
              <a:t>Uses </a:t>
            </a:r>
            <a:r>
              <a:rPr lang="en-US" sz="1700" b="1" dirty="0"/>
              <a:t>open-source libraries</a:t>
            </a:r>
            <a:r>
              <a:rPr lang="en-US" sz="1700" dirty="0"/>
              <a:t> (Python, Scikit-learn, </a:t>
            </a:r>
            <a:r>
              <a:rPr lang="en-US" sz="1700" dirty="0" err="1"/>
              <a:t>XGBoost</a:t>
            </a:r>
            <a:r>
              <a:rPr lang="en-US" sz="1700" dirty="0"/>
              <a:t>) → no license cost</a:t>
            </a:r>
            <a:r>
              <a:rPr lang="en-US" sz="2000" dirty="0"/>
              <a:t>.</a:t>
            </a:r>
          </a:p>
          <a:p>
            <a:r>
              <a:rPr lang="en-US" sz="2200" b="1" dirty="0">
                <a:latin typeface="Calibri" panose="020F0502020204030204" pitchFamily="34" charset="0"/>
                <a:ea typeface="Calibri" panose="020F0502020204030204" pitchFamily="34" charset="0"/>
                <a:cs typeface="Calibri" panose="020F0502020204030204" pitchFamily="34" charset="0"/>
              </a:rPr>
              <a:t>Technical Feasibility:</a:t>
            </a:r>
            <a:r>
              <a:rPr lang="en-US" sz="2200" dirty="0">
                <a:latin typeface="Calibri" panose="020F0502020204030204" pitchFamily="34" charset="0"/>
                <a:ea typeface="Calibri" panose="020F0502020204030204" pitchFamily="34" charset="0"/>
                <a:cs typeface="Calibri" panose="020F0502020204030204" pitchFamily="34" charset="0"/>
              </a:rPr>
              <a:t> Leverages proven and modern frameworks (React, Flutter, Node.js).</a:t>
            </a:r>
          </a:p>
          <a:p>
            <a:r>
              <a:rPr lang="en-US" sz="2200" b="1" dirty="0">
                <a:latin typeface="Calibri" panose="020F0502020204030204" pitchFamily="34" charset="0"/>
                <a:ea typeface="Calibri" panose="020F0502020204030204" pitchFamily="34" charset="0"/>
                <a:cs typeface="Calibri" panose="020F0502020204030204" pitchFamily="34" charset="0"/>
              </a:rPr>
              <a:t>Resource Feasibility:</a:t>
            </a:r>
            <a:r>
              <a:rPr lang="en-US" sz="2200" dirty="0">
                <a:latin typeface="Calibri" panose="020F0502020204030204" pitchFamily="34" charset="0"/>
                <a:ea typeface="Calibri" panose="020F0502020204030204" pitchFamily="34" charset="0"/>
                <a:cs typeface="Calibri" panose="020F0502020204030204" pitchFamily="34" charset="0"/>
              </a:rPr>
              <a:t> Supports both web and mobile platforms and is cloud-deployable.</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8253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7D205-221B-F6B1-156E-B7A41DE9AB59}"/>
              </a:ext>
            </a:extLst>
          </p:cNvPr>
          <p:cNvSpPr>
            <a:spLocks noGrp="1"/>
          </p:cNvSpPr>
          <p:nvPr>
            <p:ph type="title"/>
          </p:nvPr>
        </p:nvSpPr>
        <p:spPr>
          <a:xfrm>
            <a:off x="812800" y="439591"/>
            <a:ext cx="10668000" cy="487500"/>
          </a:xfrm>
        </p:spPr>
        <p:txBody>
          <a:bodyPr/>
          <a:lstStyle/>
          <a:p>
            <a:r>
              <a:rPr lang="en-US" dirty="0">
                <a:latin typeface="Cambria" panose="02040503050406030204" pitchFamily="18" charset="0"/>
                <a:ea typeface="Cambria" panose="02040503050406030204" pitchFamily="18" charset="0"/>
              </a:rPr>
              <a:t>Architecture Diagram</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C1A86A5E-9839-E9DA-D816-5D229943B02F}"/>
              </a:ext>
            </a:extLst>
          </p:cNvPr>
          <p:cNvSpPr>
            <a:spLocks noGrp="1"/>
          </p:cNvSpPr>
          <p:nvPr>
            <p:ph type="body" idx="1"/>
          </p:nvPr>
        </p:nvSpPr>
        <p:spPr>
          <a:xfrm>
            <a:off x="812800" y="1143001"/>
            <a:ext cx="8183716" cy="4953000"/>
          </a:xfrm>
        </p:spPr>
        <p:txBody>
          <a:bodyPr/>
          <a:lstStyle/>
          <a:p>
            <a:endParaRPr lang="en-IN" dirty="0"/>
          </a:p>
        </p:txBody>
      </p:sp>
      <p:pic>
        <p:nvPicPr>
          <p:cNvPr id="5" name="Picture 4">
            <a:extLst>
              <a:ext uri="{FF2B5EF4-FFF2-40B4-BE49-F238E27FC236}">
                <a16:creationId xmlns:a16="http://schemas.microsoft.com/office/drawing/2014/main" id="{CBDDDC10-AE30-4375-B2D1-2F2EA42D3FF7}"/>
              </a:ext>
            </a:extLst>
          </p:cNvPr>
          <p:cNvPicPr>
            <a:picLocks noChangeAspect="1"/>
          </p:cNvPicPr>
          <p:nvPr/>
        </p:nvPicPr>
        <p:blipFill>
          <a:blip r:embed="rId2"/>
          <a:stretch>
            <a:fillRect/>
          </a:stretch>
        </p:blipFill>
        <p:spPr>
          <a:xfrm>
            <a:off x="914400" y="1255610"/>
            <a:ext cx="7773475" cy="4132468"/>
          </a:xfrm>
          <a:prstGeom prst="rect">
            <a:avLst/>
          </a:prstGeom>
        </p:spPr>
      </p:pic>
    </p:spTree>
    <p:extLst>
      <p:ext uri="{BB962C8B-B14F-4D97-AF65-F5344CB8AC3E}">
        <p14:creationId xmlns:p14="http://schemas.microsoft.com/office/powerpoint/2010/main" val="1041429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7C65-636A-F64D-19AC-6A41896D608C}"/>
              </a:ext>
            </a:extLst>
          </p:cNvPr>
          <p:cNvSpPr>
            <a:spLocks noGrp="1"/>
          </p:cNvSpPr>
          <p:nvPr>
            <p:ph type="title"/>
          </p:nvPr>
        </p:nvSpPr>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Modules</a:t>
            </a:r>
          </a:p>
        </p:txBody>
      </p:sp>
      <p:sp>
        <p:nvSpPr>
          <p:cNvPr id="4" name="Rectangle 1">
            <a:extLst>
              <a:ext uri="{FF2B5EF4-FFF2-40B4-BE49-F238E27FC236}">
                <a16:creationId xmlns:a16="http://schemas.microsoft.com/office/drawing/2014/main" id="{FCEA5F12-44AB-50B7-45C8-962CE182833D}"/>
              </a:ext>
            </a:extLst>
          </p:cNvPr>
          <p:cNvSpPr>
            <a:spLocks noGrp="1" noChangeArrowheads="1"/>
          </p:cNvSpPr>
          <p:nvPr>
            <p:ph type="body" idx="1"/>
          </p:nvPr>
        </p:nvSpPr>
        <p:spPr bwMode="auto">
          <a:xfrm>
            <a:off x="812800" y="1375554"/>
            <a:ext cx="1091362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Module: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Register, Login, Submit grievance (with voice input), Upload/delete images, Track status, Reopen complaint.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Admin Module: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Assign grievances, Update/close status, Approve reopen requests, View dashboard analytics.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Chatbot Module: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AI-based assistant for FAQs and general guidance.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Helpline Module: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1902 integration with call-back request handling.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Notification Module: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Real-time push notifications to users and admins.</a:t>
            </a:r>
          </a:p>
        </p:txBody>
      </p:sp>
    </p:spTree>
    <p:extLst>
      <p:ext uri="{BB962C8B-B14F-4D97-AF65-F5344CB8AC3E}">
        <p14:creationId xmlns:p14="http://schemas.microsoft.com/office/powerpoint/2010/main" val="896314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A2F1-969C-4BEB-3BB4-646E3218B867}"/>
              </a:ext>
            </a:extLst>
          </p:cNvPr>
          <p:cNvSpPr>
            <a:spLocks noGrp="1"/>
          </p:cNvSpPr>
          <p:nvPr>
            <p:ph type="title"/>
          </p:nvPr>
        </p:nvSpPr>
        <p:spPr/>
        <p:txBody>
          <a:bodyPr/>
          <a:lstStyle/>
          <a:p>
            <a:r>
              <a:rPr lang="en-IN" sz="2400" dirty="0"/>
              <a:t>Hardware and Software</a:t>
            </a:r>
          </a:p>
        </p:txBody>
      </p:sp>
      <p:sp>
        <p:nvSpPr>
          <p:cNvPr id="4" name="Rectangle 1">
            <a:extLst>
              <a:ext uri="{FF2B5EF4-FFF2-40B4-BE49-F238E27FC236}">
                <a16:creationId xmlns:a16="http://schemas.microsoft.com/office/drawing/2014/main" id="{F8106957-68B8-92D6-A6ED-6A360CAF6B08}"/>
              </a:ext>
            </a:extLst>
          </p:cNvPr>
          <p:cNvSpPr>
            <a:spLocks noGrp="1" noChangeArrowheads="1"/>
          </p:cNvSpPr>
          <p:nvPr>
            <p:ph type="body" idx="1"/>
          </p:nvPr>
        </p:nvSpPr>
        <p:spPr bwMode="auto">
          <a:xfrm>
            <a:off x="812799" y="166132"/>
            <a:ext cx="7593781" cy="595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Software</a:t>
            </a:r>
            <a:endParaRPr lang="en-US" alt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OS: Windows/Linux/MacOS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Programming Language: Python 3.8+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Key Libraries:</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Machine Learning: </a:t>
            </a:r>
            <a:r>
              <a:rPr lang="en-IN" sz="1800" dirty="0" err="1">
                <a:latin typeface="Calibri" panose="020F0502020204030204" pitchFamily="34" charset="0"/>
                <a:ea typeface="Calibri" panose="020F0502020204030204" pitchFamily="34" charset="0"/>
                <a:cs typeface="Calibri" panose="020F0502020204030204" pitchFamily="34" charset="0"/>
              </a:rPr>
              <a:t>xgboost</a:t>
            </a:r>
            <a:r>
              <a:rPr lang="en-IN" sz="1800" dirty="0">
                <a:latin typeface="Calibri" panose="020F0502020204030204" pitchFamily="34" charset="0"/>
                <a:ea typeface="Calibri" panose="020F0502020204030204" pitchFamily="34" charset="0"/>
                <a:cs typeface="Calibri" panose="020F0502020204030204" pitchFamily="34" charset="0"/>
              </a:rPr>
              <a:t>, scikit-learn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Data Processing: pandas, </a:t>
            </a:r>
            <a:r>
              <a:rPr lang="en-IN" sz="1800" dirty="0" err="1">
                <a:latin typeface="Calibri" panose="020F0502020204030204" pitchFamily="34" charset="0"/>
                <a:ea typeface="Calibri" panose="020F0502020204030204" pitchFamily="34" charset="0"/>
                <a:cs typeface="Calibri" panose="020F0502020204030204" pitchFamily="34" charset="0"/>
              </a:rPr>
              <a:t>numpy</a:t>
            </a:r>
            <a:r>
              <a:rPr lang="en-IN" sz="1800" dirty="0">
                <a:latin typeface="Calibri" panose="020F0502020204030204" pitchFamily="34" charset="0"/>
                <a:ea typeface="Calibri" panose="020F0502020204030204" pitchFamily="34" charset="0"/>
                <a:cs typeface="Calibri" panose="020F0502020204030204" pitchFamily="34" charset="0"/>
              </a:rPr>
              <a:t>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Visualization: matplotlib, seaborn </a:t>
            </a:r>
          </a:p>
          <a:p>
            <a:pPr marL="0" lvl="0" indent="0" eaLnBrk="0" fontAlgn="base" hangingPunct="0">
              <a:spcBef>
                <a:spcPct val="0"/>
              </a:spcBef>
              <a:spcAft>
                <a:spcPct val="0"/>
              </a:spcAft>
              <a:buClrTx/>
              <a:buSzTx/>
              <a:buFontTx/>
              <a:buChar char="•"/>
            </a:pPr>
            <a:r>
              <a:rPr lang="en-IN" sz="1800" dirty="0">
                <a:latin typeface="Calibri" panose="020F0502020204030204" pitchFamily="34" charset="0"/>
                <a:ea typeface="Calibri" panose="020F0502020204030204" pitchFamily="34" charset="0"/>
                <a:cs typeface="Calibri" panose="020F0502020204030204" pitchFamily="34" charset="0"/>
              </a:rPr>
              <a:t> APIs: requests</a:t>
            </a:r>
            <a:endPar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r>
              <a:rPr lang="en-US" sz="2000" b="1" dirty="0">
                <a:latin typeface="Calibri" panose="020F0502020204030204" pitchFamily="34" charset="0"/>
                <a:ea typeface="Calibri" panose="020F0502020204030204" pitchFamily="34" charset="0"/>
                <a:cs typeface="Calibri" panose="020F0502020204030204" pitchFamily="34" charset="0"/>
              </a:rPr>
              <a:t>Assumptions: </a:t>
            </a:r>
          </a:p>
          <a:p>
            <a:pPr marL="0" lvl="0" indent="0" eaLnBrk="0" fontAlgn="base" hangingPunct="0">
              <a:spcBef>
                <a:spcPct val="0"/>
              </a:spcBef>
              <a:spcAft>
                <a:spcPct val="0"/>
              </a:spcAft>
              <a:buClrTx/>
              <a:buSzTx/>
              <a:buNone/>
            </a:pPr>
            <a:r>
              <a:rPr lang="en-US" sz="1800"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APIs (e.g., </a:t>
            </a:r>
            <a:r>
              <a:rPr lang="en-US" sz="2000" dirty="0" err="1">
                <a:latin typeface="Calibri" panose="020F0502020204030204" pitchFamily="34" charset="0"/>
                <a:ea typeface="Calibri" panose="020F0502020204030204" pitchFamily="34" charset="0"/>
                <a:cs typeface="Calibri" panose="020F0502020204030204" pitchFamily="34" charset="0"/>
              </a:rPr>
              <a:t>OpenWeather</a:t>
            </a:r>
            <a:r>
              <a:rPr lang="en-US" sz="2000" dirty="0">
                <a:latin typeface="Calibri" panose="020F0502020204030204" pitchFamily="34" charset="0"/>
                <a:ea typeface="Calibri" panose="020F0502020204030204" pitchFamily="34" charset="0"/>
                <a:cs typeface="Calibri" panose="020F0502020204030204" pitchFamily="34" charset="0"/>
              </a:rPr>
              <a:t>) are active and accessible. </a:t>
            </a:r>
          </a:p>
          <a:p>
            <a:pPr marL="0" lvl="0" indent="0" eaLnBrk="0" fontAlgn="base" hangingPunct="0">
              <a:spcBef>
                <a:spcPct val="0"/>
              </a:spcBef>
              <a:spcAft>
                <a:spcPct val="0"/>
              </a:spcAft>
              <a:buClrTx/>
              <a:buSzTx/>
              <a:buNone/>
            </a:pPr>
            <a:r>
              <a:rPr lang="en-US" sz="2000" dirty="0">
                <a:latin typeface="Calibri" panose="020F0502020204030204" pitchFamily="34" charset="0"/>
                <a:ea typeface="Calibri" panose="020F0502020204030204" pitchFamily="34" charset="0"/>
                <a:cs typeface="Calibri" panose="020F0502020204030204" pitchFamily="34" charset="0"/>
              </a:rPr>
              <a:t>•The dataset is clean and representative of real-world scenarios.</a:t>
            </a:r>
          </a:p>
          <a:p>
            <a:pPr marL="0" lvl="0" indent="0" eaLnBrk="0" fontAlgn="base" hangingPunct="0">
              <a:spcBef>
                <a:spcPct val="0"/>
              </a:spcBef>
              <a:spcAft>
                <a:spcPct val="0"/>
              </a:spcAft>
              <a:buClrTx/>
              <a:buSzTx/>
              <a:buNone/>
            </a:pPr>
            <a:r>
              <a:rPr lang="en-US" sz="2000" dirty="0">
                <a:latin typeface="Calibri" panose="020F0502020204030204" pitchFamily="34" charset="0"/>
                <a:ea typeface="Calibri" panose="020F0502020204030204" pitchFamily="34" charset="0"/>
                <a:cs typeface="Calibri" panose="020F0502020204030204" pitchFamily="34" charset="0"/>
              </a:rPr>
              <a:t>• Necessary permissions to access satellite data are in place.</a:t>
            </a:r>
          </a:p>
          <a:p>
            <a:pPr marL="0" indent="0" eaLnBrk="0" fontAlgn="base" hangingPunct="0">
              <a:spcBef>
                <a:spcPct val="0"/>
              </a:spcBef>
              <a:spcAft>
                <a:spcPct val="0"/>
              </a:spcAft>
              <a:buClrTx/>
              <a:buSzTx/>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spcBef>
                <a:spcPct val="0"/>
              </a:spcBef>
              <a:spcAft>
                <a:spcPct val="0"/>
              </a:spcAft>
              <a:buClrTx/>
              <a:buSzTx/>
              <a:buNone/>
            </a:pPr>
            <a:r>
              <a:rPr lang="en-US" sz="2000" b="1" dirty="0">
                <a:latin typeface="Calibri" panose="020F0502020204030204" pitchFamily="34" charset="0"/>
                <a:ea typeface="Calibri" panose="020F0502020204030204" pitchFamily="34" charset="0"/>
                <a:cs typeface="Calibri" panose="020F0502020204030204" pitchFamily="34" charset="0"/>
              </a:rPr>
              <a:t>Hardware: </a:t>
            </a:r>
          </a:p>
          <a:p>
            <a:pPr marL="0" lvl="0" indent="0" eaLnBrk="0" fontAlgn="base" hangingPunct="0">
              <a:spcBef>
                <a:spcPct val="0"/>
              </a:spcBef>
              <a:spcAft>
                <a:spcPct val="0"/>
              </a:spcAft>
              <a:buClrTx/>
              <a:buSzTx/>
              <a:buNone/>
            </a:pPr>
            <a:r>
              <a:rPr lang="en-IN" sz="2000" dirty="0">
                <a:latin typeface="Calibri" panose="020F0502020204030204" pitchFamily="34" charset="0"/>
                <a:ea typeface="Calibri" panose="020F0502020204030204" pitchFamily="34" charset="0"/>
                <a:cs typeface="Calibri" panose="020F0502020204030204" pitchFamily="34" charset="0"/>
              </a:rPr>
              <a:t>High-performance servers</a:t>
            </a:r>
          </a:p>
          <a:p>
            <a:pPr marL="0" lvl="0" indent="0" eaLnBrk="0" fontAlgn="base" hangingPunct="0">
              <a:spcBef>
                <a:spcPct val="0"/>
              </a:spcBef>
              <a:spcAft>
                <a:spcPct val="0"/>
              </a:spcAft>
              <a:buClrTx/>
              <a:buSzTx/>
              <a:buNone/>
            </a:pPr>
            <a:r>
              <a:rPr lang="en-IN" sz="2000" dirty="0">
                <a:latin typeface="Calibri" panose="020F0502020204030204" pitchFamily="34" charset="0"/>
                <a:ea typeface="Calibri" panose="020F0502020204030204" pitchFamily="34" charset="0"/>
                <a:cs typeface="Calibri" panose="020F0502020204030204" pitchFamily="34" charset="0"/>
              </a:rPr>
              <a:t>GPUs for ML models. </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735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https://github.com/harshitha101831/Batch-number_131/upload</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8" name="Picture 7" descr="A chart with blue squares&#10;&#10;AI-generated content may be incorrect.">
            <a:extLst>
              <a:ext uri="{FF2B5EF4-FFF2-40B4-BE49-F238E27FC236}">
                <a16:creationId xmlns:a16="http://schemas.microsoft.com/office/drawing/2014/main" id="{4D3F65F4-6064-1C31-A7E3-870CF1AF250F}"/>
              </a:ext>
            </a:extLst>
          </p:cNvPr>
          <p:cNvPicPr>
            <a:picLocks noChangeAspect="1"/>
          </p:cNvPicPr>
          <p:nvPr/>
        </p:nvPicPr>
        <p:blipFill>
          <a:blip r:embed="rId3"/>
          <a:stretch>
            <a:fillRect/>
          </a:stretch>
        </p:blipFill>
        <p:spPr>
          <a:xfrm>
            <a:off x="933930" y="1142995"/>
            <a:ext cx="8534536" cy="511931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t>. </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92D53641-355D-B74B-95C3-683232921A9F}"/>
              </a:ext>
            </a:extLst>
          </p:cNvPr>
          <p:cNvSpPr>
            <a:spLocks noChangeArrowheads="1"/>
          </p:cNvSpPr>
          <p:nvPr/>
        </p:nvSpPr>
        <p:spPr bwMode="auto">
          <a:xfrm>
            <a:off x="711200" y="1181362"/>
            <a:ext cx="1119738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t>
            </a:r>
            <a:r>
              <a:rPr lang="en-IN" sz="2000" dirty="0">
                <a:latin typeface="Calibri" panose="020F0502020204030204" pitchFamily="34" charset="0"/>
                <a:ea typeface="Calibri" panose="020F0502020204030204" pitchFamily="34" charset="0"/>
                <a:cs typeface="Calibri" panose="020F0502020204030204" pitchFamily="34" charset="0"/>
              </a:rPr>
              <a:t>[1] M. Thomas et al., "A Framework to Assess Remote Sensing Algorithms for Satellite-Based Flood Index Insurance," in IEEE Journal of Selected Topics in Applied Earth Observations and Remote Sensing, vol. 16, pp. 2589-2604, 2023,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10.1109/JSTARS.2023.3244098.</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[2] S. H. Mahir et al., "Advanced Hydro-Informatic </a:t>
            </a:r>
            <a:r>
              <a:rPr lang="en-IN" sz="2000" dirty="0" err="1">
                <a:latin typeface="Calibri" panose="020F0502020204030204" pitchFamily="34" charset="0"/>
                <a:ea typeface="Calibri" panose="020F0502020204030204" pitchFamily="34" charset="0"/>
                <a:cs typeface="Calibri" panose="020F0502020204030204" pitchFamily="34" charset="0"/>
              </a:rPr>
              <a:t>Modeling</a:t>
            </a:r>
            <a:r>
              <a:rPr lang="en-IN" sz="2000" dirty="0">
                <a:latin typeface="Calibri" panose="020F0502020204030204" pitchFamily="34" charset="0"/>
                <a:ea typeface="Calibri" panose="020F0502020204030204" pitchFamily="34" charset="0"/>
                <a:cs typeface="Calibri" panose="020F0502020204030204" pitchFamily="34" charset="0"/>
              </a:rPr>
              <a:t> Through Feedforward Neural Network, Federated Learning, and Explainable AI for Enhancing Flood Prediction," in IEEE Open Journal of the Computer Society, vol. 6, pp. 726-738, 2025,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10.1109/OJCS.2025.3556424.</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[3]Y. Liu, L. Wang, S. Du, L. Zhao and X. Liu, "Flood Forecasting Method Based on Improved VMD-FOS-QR-RBL," in IEEE Access, vol. 11, pp. 4207-4218, 2023,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10.1109/ACCESS.2022.3232405.</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IN" sz="2000" dirty="0">
                <a:latin typeface="Calibri" panose="020F0502020204030204" pitchFamily="34" charset="0"/>
                <a:ea typeface="Calibri" panose="020F0502020204030204" pitchFamily="34" charset="0"/>
                <a:cs typeface="Calibri" panose="020F0502020204030204" pitchFamily="34" charset="0"/>
              </a:rPr>
              <a:t>[4] J. Du </a:t>
            </a:r>
            <a:r>
              <a:rPr lang="en-IN" sz="2000" i="1" dirty="0">
                <a:latin typeface="Calibri" panose="020F0502020204030204" pitchFamily="34" charset="0"/>
                <a:ea typeface="Calibri" panose="020F0502020204030204" pitchFamily="34" charset="0"/>
                <a:cs typeface="Calibri" panose="020F0502020204030204" pitchFamily="34" charset="0"/>
              </a:rPr>
              <a:t>et al</a:t>
            </a:r>
            <a:r>
              <a:rPr lang="en-IN" sz="2000" dirty="0">
                <a:latin typeface="Calibri" panose="020F0502020204030204" pitchFamily="34" charset="0"/>
                <a:ea typeface="Calibri" panose="020F0502020204030204" pitchFamily="34" charset="0"/>
                <a:cs typeface="Calibri" panose="020F0502020204030204" pitchFamily="34" charset="0"/>
              </a:rPr>
              <a:t>., "Satellite Flood Assessment and Forecasts from SMAP and Landsat," </a:t>
            </a:r>
            <a:r>
              <a:rPr lang="en-IN" sz="2000" i="1" dirty="0">
                <a:latin typeface="Calibri" panose="020F0502020204030204" pitchFamily="34" charset="0"/>
                <a:ea typeface="Calibri" panose="020F0502020204030204" pitchFamily="34" charset="0"/>
                <a:cs typeface="Calibri" panose="020F0502020204030204" pitchFamily="34" charset="0"/>
              </a:rPr>
              <a:t>IGARSS 2020 - 2020 IEEE International Geoscience and Remote Sensing Symposium</a:t>
            </a:r>
            <a:r>
              <a:rPr lang="en-IN" sz="2000" dirty="0">
                <a:latin typeface="Calibri" panose="020F0502020204030204" pitchFamily="34" charset="0"/>
                <a:ea typeface="Calibri" panose="020F0502020204030204" pitchFamily="34" charset="0"/>
                <a:cs typeface="Calibri" panose="020F0502020204030204" pitchFamily="34" charset="0"/>
              </a:rPr>
              <a:t>, Waikoloa, HI, USA, 2020, pp. 3334-3337,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10.1109/IGARSS39084.2020.9323552</a:t>
            </a: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ED54-6D69-E513-CC19-A8727C927043}"/>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F49994DA-DA70-31C7-B684-94BC976929F8}"/>
              </a:ext>
            </a:extLst>
          </p:cNvPr>
          <p:cNvSpPr>
            <a:spLocks noGrp="1" noChangeArrowheads="1"/>
          </p:cNvSpPr>
          <p:nvPr>
            <p:ph type="body" idx="1"/>
          </p:nvPr>
        </p:nvSpPr>
        <p:spPr bwMode="auto">
          <a:xfrm>
            <a:off x="762000" y="1192154"/>
            <a:ext cx="10668000" cy="4721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[5] Y. </a:t>
            </a:r>
            <a:r>
              <a:rPr lang="en-IN" sz="2000" dirty="0" err="1">
                <a:latin typeface="Calibri" panose="020F0502020204030204" pitchFamily="34" charset="0"/>
                <a:ea typeface="Calibri" panose="020F0502020204030204" pitchFamily="34" charset="0"/>
                <a:cs typeface="Calibri" panose="020F0502020204030204" pitchFamily="34" charset="0"/>
              </a:rPr>
              <a:t>Djenouri</a:t>
            </a:r>
            <a:r>
              <a:rPr lang="en-IN" sz="2000" dirty="0">
                <a:latin typeface="Calibri" panose="020F0502020204030204" pitchFamily="34" charset="0"/>
                <a:ea typeface="Calibri" panose="020F0502020204030204" pitchFamily="34" charset="0"/>
                <a:cs typeface="Calibri" panose="020F0502020204030204" pitchFamily="34" charset="0"/>
              </a:rPr>
              <a:t>, M. </a:t>
            </a:r>
            <a:r>
              <a:rPr lang="en-IN" sz="2000" dirty="0" err="1">
                <a:latin typeface="Calibri" panose="020F0502020204030204" pitchFamily="34" charset="0"/>
                <a:ea typeface="Calibri" panose="020F0502020204030204" pitchFamily="34" charset="0"/>
                <a:cs typeface="Calibri" panose="020F0502020204030204" pitchFamily="34" charset="0"/>
              </a:rPr>
              <a:t>Godziszewski</a:t>
            </a:r>
            <a:r>
              <a:rPr lang="en-IN" sz="2000" dirty="0">
                <a:latin typeface="Calibri" panose="020F0502020204030204" pitchFamily="34" charset="0"/>
                <a:ea typeface="Calibri" panose="020F0502020204030204" pitchFamily="34" charset="0"/>
                <a:cs typeface="Calibri" panose="020F0502020204030204" pitchFamily="34" charset="0"/>
              </a:rPr>
              <a:t>, F. Andrade, G. Srivastava, A. N. Belbachir and A. Murano, "Game-Theoretic Consensus Deep Learning for Adaptive Flood Prediction in Digital Twin Environments," in IEEE Journal of Selected Topics in Applied Earth Observations and Remote Sensing,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10.1109/JSTARS.2025.3596008.</a:t>
            </a:r>
          </a:p>
          <a:p>
            <a:pPr marL="0" indent="0" eaLnBrk="0" fontAlgn="base" hangingPunct="0">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[6]N. Akhtar et al., "Hierarchical Coloured Petri-Net Based Multi-Agent System for Flood Monitoring, Prediction, and Rescue (FMPR)," in IEEE Access, vol. 7, pp. 180544-180557, 2019,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10.1109/ACCESS.2019.2958258.</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sz="2000" dirty="0">
                <a:latin typeface="Calibri" panose="020F0502020204030204" pitchFamily="34" charset="0"/>
                <a:ea typeface="Calibri" panose="020F0502020204030204" pitchFamily="34" charset="0"/>
                <a:cs typeface="Calibri" panose="020F0502020204030204" pitchFamily="34" charset="0"/>
              </a:rPr>
              <a:t>[7] Z. Jiao, B. Chen, Z. Zhang and L. Wu, "Sample-Adjusted Threshold Calculation (SATC) for Optimizing Flood Mapping From a Trustworthy and Explainable Perspective," in </a:t>
            </a:r>
            <a:r>
              <a:rPr lang="en-IN" sz="2000" i="1" dirty="0">
                <a:latin typeface="Calibri" panose="020F0502020204030204" pitchFamily="34" charset="0"/>
                <a:ea typeface="Calibri" panose="020F0502020204030204" pitchFamily="34" charset="0"/>
                <a:cs typeface="Calibri" panose="020F0502020204030204" pitchFamily="34" charset="0"/>
              </a:rPr>
              <a:t>IEEE Journal of Selected Topics in Applied Earth Observations and Remote Sensing</a:t>
            </a:r>
            <a:r>
              <a:rPr lang="en-IN" sz="2000" dirty="0">
                <a:latin typeface="Calibri" panose="020F0502020204030204" pitchFamily="34" charset="0"/>
                <a:ea typeface="Calibri" panose="020F0502020204030204" pitchFamily="34" charset="0"/>
                <a:cs typeface="Calibri" panose="020F0502020204030204" pitchFamily="34" charset="0"/>
              </a:rPr>
              <a:t>, vol. 18, pp. 13622-13634, 2025, </a:t>
            </a:r>
            <a:r>
              <a:rPr lang="en-IN" sz="2000" dirty="0" err="1">
                <a:latin typeface="Calibri" panose="020F0502020204030204" pitchFamily="34" charset="0"/>
                <a:ea typeface="Calibri" panose="020F0502020204030204" pitchFamily="34" charset="0"/>
                <a:cs typeface="Calibri" panose="020F0502020204030204" pitchFamily="34" charset="0"/>
              </a:rPr>
              <a:t>doi</a:t>
            </a:r>
            <a:r>
              <a:rPr lang="en-IN" sz="2000" dirty="0">
                <a:latin typeface="Calibri" panose="020F0502020204030204" pitchFamily="34" charset="0"/>
                <a:ea typeface="Calibri" panose="020F0502020204030204" pitchFamily="34" charset="0"/>
                <a:cs typeface="Calibri" panose="020F0502020204030204" pitchFamily="34" charset="0"/>
              </a:rPr>
              <a:t>: 10.1109/JSTARS.2025.3572055</a:t>
            </a:r>
          </a:p>
          <a:p>
            <a:pPr marL="7620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8185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702C-A20F-514C-0F39-FDE9609EBF2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E0BAE23-4F8B-FEA6-9B27-1A89D28E703A}"/>
              </a:ext>
            </a:extLst>
          </p:cNvPr>
          <p:cNvSpPr>
            <a:spLocks noGrp="1"/>
          </p:cNvSpPr>
          <p:nvPr>
            <p:ph type="body" idx="1"/>
          </p:nvPr>
        </p:nvSpPr>
        <p:spPr/>
        <p:txBody>
          <a:bodyPr/>
          <a:lstStyle/>
          <a:p>
            <a:pPr marL="76200" indent="0">
              <a:buNone/>
            </a:pPr>
            <a:r>
              <a:rPr lang="en-IN" dirty="0">
                <a:latin typeface="Calibri" panose="020F0502020204030204" pitchFamily="34" charset="0"/>
                <a:ea typeface="Calibri" panose="020F0502020204030204" pitchFamily="34" charset="0"/>
                <a:cs typeface="Calibri" panose="020F0502020204030204" pitchFamily="34" charset="0"/>
              </a:rPr>
              <a:t>[8] P. Yang, X. Xu, M. Shao and Y. Liu, "Intelligent Prediction of Flood Disaster Risk Levels Based on Knowledge Graph and Graph Neural Networks," in IEEE Access, vol. 13, pp. 8416-8424, 2025, </a:t>
            </a:r>
            <a:r>
              <a:rPr lang="en-IN" dirty="0" err="1">
                <a:latin typeface="Calibri" panose="020F0502020204030204" pitchFamily="34" charset="0"/>
                <a:ea typeface="Calibri" panose="020F0502020204030204" pitchFamily="34" charset="0"/>
                <a:cs typeface="Calibri" panose="020F0502020204030204" pitchFamily="34" charset="0"/>
              </a:rPr>
              <a:t>doi</a:t>
            </a:r>
            <a:r>
              <a:rPr lang="en-IN" dirty="0">
                <a:latin typeface="Calibri" panose="020F0502020204030204" pitchFamily="34" charset="0"/>
                <a:ea typeface="Calibri" panose="020F0502020204030204" pitchFamily="34" charset="0"/>
                <a:cs typeface="Calibri" panose="020F0502020204030204" pitchFamily="34" charset="0"/>
              </a:rPr>
              <a:t>: 10.1109/ACCESS.2025.3525757.</a:t>
            </a:r>
          </a:p>
          <a:p>
            <a:pPr marL="76200" indent="0">
              <a:buNone/>
            </a:pPr>
            <a:endParaRPr lang="en-IN" sz="2000" dirty="0"/>
          </a:p>
          <a:p>
            <a:pPr marL="76200" indent="0">
              <a:buNone/>
            </a:pPr>
            <a:r>
              <a:rPr lang="en-IN" sz="2000" dirty="0"/>
              <a:t>[9] S. </a:t>
            </a:r>
            <a:r>
              <a:rPr lang="en-IN" sz="2000" dirty="0" err="1"/>
              <a:t>Puttinaovarat</a:t>
            </a:r>
            <a:r>
              <a:rPr lang="en-IN" sz="2000" dirty="0"/>
              <a:t> and P. </a:t>
            </a:r>
            <a:r>
              <a:rPr lang="en-IN" sz="2000" dirty="0" err="1"/>
              <a:t>Horkaew</a:t>
            </a:r>
            <a:r>
              <a:rPr lang="en-IN" sz="2000" dirty="0"/>
              <a:t>, "Flood Forecasting System Based on Integrated Big and Crowdsource Data by Using Machine Learning Techniques," in IEEE Access, vol. 8, pp. 5885-5905, 2020, </a:t>
            </a:r>
            <a:r>
              <a:rPr lang="en-IN" sz="2000" dirty="0" err="1"/>
              <a:t>doi</a:t>
            </a:r>
            <a:r>
              <a:rPr lang="en-IN" sz="2000" dirty="0"/>
              <a:t>: 10.1109/ACCESS.2019.2963819.</a:t>
            </a:r>
          </a:p>
          <a:p>
            <a:pPr marL="76200" indent="0">
              <a:buNone/>
            </a:pPr>
            <a:endParaRPr lang="en-IN" sz="2000" dirty="0"/>
          </a:p>
          <a:p>
            <a:pPr marL="76200" indent="0">
              <a:buNone/>
            </a:pPr>
            <a:r>
              <a:rPr lang="en-IN" sz="2000" dirty="0"/>
              <a:t>[10] D. H. Nguyen, X. Hien Le, J. -Y. Heo and D. -H. Bae, "Development of an Extreme Gradient Boosting Model Integrated With Evolutionary Algorithms for Hourly Water Level Prediction," in IEEE Access, vol. 9, pp. 125853-125867, 2021, </a:t>
            </a:r>
            <a:r>
              <a:rPr lang="en-IN" sz="2000" dirty="0" err="1"/>
              <a:t>doi</a:t>
            </a:r>
            <a:r>
              <a:rPr lang="en-IN" sz="2000" dirty="0"/>
              <a:t>: 10.1109/ACCESS.2021.3111287.</a:t>
            </a:r>
          </a:p>
          <a:p>
            <a:pPr marL="76200" indent="0">
              <a:buNone/>
            </a:pPr>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53765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592</TotalTime>
  <Words>2119</Words>
  <Application>Microsoft Office PowerPoint</Application>
  <PresentationFormat>Widescreen</PresentationFormat>
  <Paragraphs>226</Paragraphs>
  <Slides>18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vt:lpstr>
      <vt:lpstr>Verdana</vt:lpstr>
      <vt:lpstr>Wingdings</vt:lpstr>
      <vt:lpstr>Bioinformatics</vt:lpstr>
      <vt:lpstr>PSCS_531_Projection of the extent of inundation corresponding to the forecasts of flood levels in a river.</vt:lpstr>
      <vt:lpstr>Content</vt:lpstr>
      <vt:lpstr>Problem Statement Number: PSCS</vt:lpstr>
      <vt:lpstr>Abstract </vt:lpstr>
      <vt:lpstr>Literature Survey </vt:lpstr>
      <vt:lpstr>Literature Survey </vt:lpstr>
      <vt:lpstr>Objectives</vt:lpstr>
      <vt:lpstr>Existing Methods and Drawbacks</vt:lpstr>
      <vt:lpstr>Proposed Methods &amp; Feasibility</vt:lpstr>
      <vt:lpstr>Architecture Diagram </vt:lpstr>
      <vt:lpstr>Modules</vt:lpstr>
      <vt:lpstr>Hardware and Software</vt:lpstr>
      <vt:lpstr>Github Link</vt:lpstr>
      <vt:lpstr>Timeline of the Project (Gantt Chart)</vt:lpstr>
      <vt:lpstr>References (IEEE Paper format)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Harshitha A.Y</cp:lastModifiedBy>
  <cp:revision>44</cp:revision>
  <dcterms:modified xsi:type="dcterms:W3CDTF">2025-09-10T05:38:47Z</dcterms:modified>
</cp:coreProperties>
</file>