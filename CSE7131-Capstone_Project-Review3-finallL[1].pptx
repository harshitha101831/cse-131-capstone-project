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1"/>
  </p:notesMasterIdLst>
  <p:sldIdLst>
    <p:sldId id="256" r:id="rId2"/>
    <p:sldId id="257" r:id="rId3"/>
    <p:sldId id="269" r:id="rId4"/>
    <p:sldId id="274" r:id="rId5"/>
    <p:sldId id="279" r:id="rId6"/>
    <p:sldId id="280" r:id="rId7"/>
    <p:sldId id="281" r:id="rId8"/>
    <p:sldId id="288" r:id="rId9"/>
    <p:sldId id="289" r:id="rId10"/>
    <p:sldId id="282" r:id="rId11"/>
    <p:sldId id="284" r:id="rId12"/>
    <p:sldId id="283" r:id="rId13"/>
    <p:sldId id="290" r:id="rId14"/>
    <p:sldId id="268" r:id="rId15"/>
    <p:sldId id="270" r:id="rId16"/>
    <p:sldId id="265" r:id="rId17"/>
    <p:sldId id="285" r:id="rId18"/>
    <p:sldId id="286" r:id="rId19"/>
    <p:sldId id="26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15" name="Google Shape;87;p13">
            <a:extLst>
              <a:ext uri="{FF2B5EF4-FFF2-40B4-BE49-F238E27FC236}">
                <a16:creationId xmlns:a16="http://schemas.microsoft.com/office/drawing/2014/main" id="{F2ADC6B7-B5EA-791E-653E-CF685EAFA493}"/>
              </a:ext>
            </a:extLst>
          </p:cNvPr>
          <p:cNvSpPr txBox="1">
            <a:spLocks noGrp="1"/>
          </p:cNvSpPr>
          <p:nvPr>
            <p:ph type="ctrTitle"/>
          </p:nvPr>
        </p:nvSpPr>
        <p:spPr>
          <a:xfrm>
            <a:off x="1" y="1108589"/>
            <a:ext cx="12192000" cy="552301"/>
          </a:xfrm>
          <a:prstGeom prst="rect">
            <a:avLst/>
          </a:prstGeom>
          <a:noFill/>
          <a:ln>
            <a:noFill/>
          </a:ln>
        </p:spPr>
        <p:txBody>
          <a:bodyPr spcFirstLastPara="1" wrap="square" lIns="91425" tIns="45700" rIns="91425" bIns="45700" anchor="ctr" anchorCtr="0">
            <a:noAutofit/>
          </a:bodyPr>
          <a:lstStyle/>
          <a:p>
            <a:pPr lvl="0" algn="ctr"/>
            <a:r>
              <a:rPr lang="en-US" sz="2400" dirty="0">
                <a:solidFill>
                  <a:schemeClr val="tx1"/>
                </a:solidFill>
                <a:latin typeface="Cambria" panose="02040503050406030204" pitchFamily="18" charset="0"/>
                <a:ea typeface="Cambria" panose="02040503050406030204" pitchFamily="18" charset="0"/>
              </a:rPr>
              <a:t>PSCS_531_</a:t>
            </a:r>
            <a:r>
              <a:rPr lang="en-US" sz="2400" dirty="0">
                <a:latin typeface="Cambria" panose="02040503050406030204" pitchFamily="18" charset="0"/>
                <a:ea typeface="Cambria" panose="02040503050406030204" pitchFamily="18" charset="0"/>
              </a:rPr>
              <a:t>Projection of the extent of inundation corresponding to the forecasts of flood levels in a river.</a:t>
            </a:r>
            <a:endParaRPr sz="2400" dirty="0">
              <a:solidFill>
                <a:schemeClr val="tx1"/>
              </a:solidFill>
              <a:latin typeface="Cambria" panose="02040503050406030204" pitchFamily="18" charset="0"/>
              <a:ea typeface="Cambria" panose="02040503050406030204" pitchFamily="18" charset="0"/>
            </a:endParaRPr>
          </a:p>
        </p:txBody>
      </p:sp>
      <p:sp>
        <p:nvSpPr>
          <p:cNvPr id="16" name="Google Shape;88;p13">
            <a:extLst>
              <a:ext uri="{FF2B5EF4-FFF2-40B4-BE49-F238E27FC236}">
                <a16:creationId xmlns:a16="http://schemas.microsoft.com/office/drawing/2014/main" id="{17D09DC0-9E81-A27A-0468-890F6BC444E3}"/>
              </a:ext>
            </a:extLst>
          </p:cNvPr>
          <p:cNvSpPr txBox="1">
            <a:spLocks noGrp="1"/>
          </p:cNvSpPr>
          <p:nvPr>
            <p:ph type="subTitle" idx="1"/>
          </p:nvPr>
        </p:nvSpPr>
        <p:spPr>
          <a:xfrm>
            <a:off x="790469" y="1938079"/>
            <a:ext cx="3059636"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sz="1800" dirty="0">
                <a:latin typeface="Cambria" panose="02040503050406030204" pitchFamily="18" charset="0"/>
                <a:ea typeface="Cambria" panose="02040503050406030204" pitchFamily="18" charset="0"/>
              </a:rPr>
              <a:t>Batch Number: CSE_131</a:t>
            </a:r>
            <a:endParaRPr sz="1800" dirty="0">
              <a:latin typeface="Cambria" panose="02040503050406030204" pitchFamily="18" charset="0"/>
              <a:ea typeface="Cambria" panose="02040503050406030204" pitchFamily="18" charset="0"/>
            </a:endParaRPr>
          </a:p>
        </p:txBody>
      </p:sp>
      <p:sp>
        <p:nvSpPr>
          <p:cNvPr id="17" name="Google Shape;90;p13">
            <a:extLst>
              <a:ext uri="{FF2B5EF4-FFF2-40B4-BE49-F238E27FC236}">
                <a16:creationId xmlns:a16="http://schemas.microsoft.com/office/drawing/2014/main" id="{17529F87-9D43-0D90-3FBD-1C3035F22929}"/>
              </a:ext>
            </a:extLst>
          </p:cNvPr>
          <p:cNvSpPr txBox="1"/>
          <p:nvPr/>
        </p:nvSpPr>
        <p:spPr>
          <a:xfrm>
            <a:off x="7113082" y="2467078"/>
            <a:ext cx="4190126" cy="2020560"/>
          </a:xfrm>
          <a:prstGeom prst="rect">
            <a:avLst/>
          </a:prstGeom>
          <a:noFill/>
          <a:ln>
            <a:noFill/>
          </a:ln>
        </p:spPr>
        <p:txBody>
          <a:bodyPr spcFirstLastPara="1" wrap="square" lIns="91425" tIns="45700" rIns="91425" bIns="45700" anchor="t" anchorCtr="0">
            <a:normAutofit/>
          </a:bodyPr>
          <a:lstStyle/>
          <a:p>
            <a:pPr marL="0" marR="0" lvl="0" indent="0" rtl="0">
              <a:spcBef>
                <a:spcPts val="0"/>
              </a:spcBef>
              <a:spcAft>
                <a:spcPts val="0"/>
              </a:spcAft>
              <a:buClr>
                <a:srgbClr val="17365D"/>
              </a:buClr>
              <a:buSzPts val="2000"/>
              <a:buFont typeface="Arial"/>
              <a:buNone/>
            </a:pPr>
            <a:r>
              <a:rPr lang="en-GB"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Under the Supervision of,</a:t>
            </a:r>
            <a:endParaRPr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IN" sz="1700" b="1" dirty="0" err="1"/>
              <a:t>Mr.Likhith</a:t>
            </a:r>
            <a:r>
              <a:rPr lang="en-IN" sz="1700" b="1" dirty="0"/>
              <a:t> S.R </a:t>
            </a: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a:t>
            </a:r>
            <a:r>
              <a:rPr lang="en-GB" dirty="0">
                <a:latin typeface="Cambria" panose="02040503050406030204" pitchFamily="18" charset="0"/>
                <a:ea typeface="Cambria" panose="02040503050406030204" pitchFamily="18" charset="0"/>
              </a:rPr>
              <a:t>-</a:t>
            </a: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18" name="Google Shape;91;p13">
            <a:extLst>
              <a:ext uri="{FF2B5EF4-FFF2-40B4-BE49-F238E27FC236}">
                <a16:creationId xmlns:a16="http://schemas.microsoft.com/office/drawing/2014/main" id="{46BA43E7-8B72-EB9A-08D1-6C6797452CAD}"/>
              </a:ext>
            </a:extLst>
          </p:cNvPr>
          <p:cNvSpPr txBox="1"/>
          <p:nvPr/>
        </p:nvSpPr>
        <p:spPr>
          <a:xfrm>
            <a:off x="1" y="136441"/>
            <a:ext cx="12192000"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Review-3</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19" name="Google Shape;91;p13">
            <a:extLst>
              <a:ext uri="{FF2B5EF4-FFF2-40B4-BE49-F238E27FC236}">
                <a16:creationId xmlns:a16="http://schemas.microsoft.com/office/drawing/2014/main" id="{986AC6BD-1A68-238D-869A-9B931F50C0EF}"/>
              </a:ext>
            </a:extLst>
          </p:cNvPr>
          <p:cNvSpPr txBox="1"/>
          <p:nvPr/>
        </p:nvSpPr>
        <p:spPr>
          <a:xfrm>
            <a:off x="709317" y="4740488"/>
            <a:ext cx="11226009"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CSE</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rgbClr val="FF0000"/>
                </a:solidFill>
                <a:latin typeface="Cambria" panose="02040503050406030204" pitchFamily="18" charset="0"/>
                <a:ea typeface="Cambria" panose="02040503050406030204" pitchFamily="18" charset="0"/>
                <a:cs typeface="Verdana"/>
                <a:sym typeface="Verdana"/>
              </a:rPr>
              <a:t>Dr. Asif Mohamed H B</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rgbClr val="FF0000"/>
                </a:solidFill>
                <a:latin typeface="Cambria" panose="02040503050406030204" pitchFamily="18" charset="0"/>
                <a:ea typeface="Cambria" panose="02040503050406030204" pitchFamily="18" charset="0"/>
                <a:cs typeface="Verdana"/>
                <a:sym typeface="Verdana"/>
              </a:rPr>
              <a:t>Dr. Jayavadivel Ravi</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0" name="Table 19">
            <a:extLst>
              <a:ext uri="{FF2B5EF4-FFF2-40B4-BE49-F238E27FC236}">
                <a16:creationId xmlns:a16="http://schemas.microsoft.com/office/drawing/2014/main" id="{86B061C8-73F3-67AF-8D4B-3CEA53BB4EDB}"/>
              </a:ext>
            </a:extLst>
          </p:cNvPr>
          <p:cNvGraphicFramePr>
            <a:graphicFrameLocks noGrp="1"/>
          </p:cNvGraphicFramePr>
          <p:nvPr>
            <p:extLst>
              <p:ext uri="{D42A27DB-BD31-4B8C-83A1-F6EECF244321}">
                <p14:modId xmlns:p14="http://schemas.microsoft.com/office/powerpoint/2010/main" val="855056964"/>
              </p:ext>
            </p:extLst>
          </p:nvPr>
        </p:nvGraphicFramePr>
        <p:xfrm>
          <a:off x="790469" y="2564647"/>
          <a:ext cx="5578248" cy="1825423"/>
        </p:xfrm>
        <a:graphic>
          <a:graphicData uri="http://schemas.openxmlformats.org/drawingml/2006/table">
            <a:tbl>
              <a:tblPr firstRow="1" bandRow="1">
                <a:tableStyleId>{5C22544A-7EE6-4342-B048-85BDC9FD1C3A}</a:tableStyleId>
              </a:tblPr>
              <a:tblGrid>
                <a:gridCol w="2789124">
                  <a:extLst>
                    <a:ext uri="{9D8B030D-6E8A-4147-A177-3AD203B41FA5}">
                      <a16:colId xmlns:a16="http://schemas.microsoft.com/office/drawing/2014/main" val="1982293054"/>
                    </a:ext>
                  </a:extLst>
                </a:gridCol>
                <a:gridCol w="2789124">
                  <a:extLst>
                    <a:ext uri="{9D8B030D-6E8A-4147-A177-3AD203B41FA5}">
                      <a16:colId xmlns:a16="http://schemas.microsoft.com/office/drawing/2014/main" val="3835210336"/>
                    </a:ext>
                  </a:extLst>
                </a:gridCol>
              </a:tblGrid>
              <a:tr h="477204">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400" b="1" u="none" strike="noStrike" cap="none" dirty="0">
                          <a:solidFill>
                            <a:schemeClr val="bg1">
                              <a:lumMod val="95000"/>
                            </a:schemeClr>
                          </a:solidFill>
                        </a:rPr>
                        <a:t>Roll Number</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400" b="1" u="none" strike="noStrike" cap="none" dirty="0">
                          <a:solidFill>
                            <a:schemeClr val="bg1"/>
                          </a:solidFill>
                        </a:rPr>
                        <a:t>Student Name</a:t>
                      </a:r>
                    </a:p>
                  </a:txBody>
                  <a:tcPr/>
                </a:tc>
                <a:extLst>
                  <a:ext uri="{0D108BD9-81ED-4DB2-BD59-A6C34878D82A}">
                    <a16:rowId xmlns:a16="http://schemas.microsoft.com/office/drawing/2014/main" val="3196418079"/>
                  </a:ext>
                </a:extLst>
              </a:tr>
              <a:tr h="458830">
                <a:tc>
                  <a:txBody>
                    <a:bodyPr/>
                    <a:lstStyle/>
                    <a:p>
                      <a:r>
                        <a:rPr lang="en-IN" dirty="0"/>
                        <a:t>HARSHITHA A Y</a:t>
                      </a:r>
                    </a:p>
                  </a:txBody>
                  <a:tcPr/>
                </a:tc>
                <a:tc>
                  <a:txBody>
                    <a:bodyPr/>
                    <a:lstStyle/>
                    <a:p>
                      <a:r>
                        <a:rPr lang="en-IN" dirty="0"/>
                        <a:t>20221CSE0526</a:t>
                      </a:r>
                    </a:p>
                  </a:txBody>
                  <a:tcPr/>
                </a:tc>
                <a:extLst>
                  <a:ext uri="{0D108BD9-81ED-4DB2-BD59-A6C34878D82A}">
                    <a16:rowId xmlns:a16="http://schemas.microsoft.com/office/drawing/2014/main" val="265354422"/>
                  </a:ext>
                </a:extLst>
              </a:tr>
              <a:tr h="430559">
                <a:tc>
                  <a:txBody>
                    <a:bodyPr/>
                    <a:lstStyle/>
                    <a:p>
                      <a:r>
                        <a:rPr lang="en-IN" dirty="0"/>
                        <a:t>HAMSA M </a:t>
                      </a:r>
                    </a:p>
                  </a:txBody>
                  <a:tcPr/>
                </a:tc>
                <a:tc>
                  <a:txBody>
                    <a:bodyPr/>
                    <a:lstStyle/>
                    <a:p>
                      <a:r>
                        <a:rPr lang="en-IN" dirty="0"/>
                        <a:t>20221CSE0525</a:t>
                      </a:r>
                    </a:p>
                  </a:txBody>
                  <a:tcPr/>
                </a:tc>
                <a:extLst>
                  <a:ext uri="{0D108BD9-81ED-4DB2-BD59-A6C34878D82A}">
                    <a16:rowId xmlns:a16="http://schemas.microsoft.com/office/drawing/2014/main" val="485875827"/>
                  </a:ext>
                </a:extLst>
              </a:tr>
              <a:tr h="458830">
                <a:tc>
                  <a:txBody>
                    <a:bodyPr/>
                    <a:lstStyle/>
                    <a:p>
                      <a:r>
                        <a:rPr lang="en-US" dirty="0"/>
                        <a:t>B</a:t>
                      </a:r>
                      <a:r>
                        <a:rPr lang="en-IN" dirty="0"/>
                        <a:t>HAGYASHREE N PATIL</a:t>
                      </a:r>
                    </a:p>
                  </a:txBody>
                  <a:tcPr/>
                </a:tc>
                <a:tc>
                  <a:txBody>
                    <a:bodyPr/>
                    <a:lstStyle/>
                    <a:p>
                      <a:r>
                        <a:rPr lang="en-IN" dirty="0"/>
                        <a:t>20221CSE0499</a:t>
                      </a:r>
                    </a:p>
                  </a:txBody>
                  <a:tcPr/>
                </a:tc>
                <a:extLst>
                  <a:ext uri="{0D108BD9-81ED-4DB2-BD59-A6C34878D82A}">
                    <a16:rowId xmlns:a16="http://schemas.microsoft.com/office/drawing/2014/main" val="2873521290"/>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36117" y="948951"/>
            <a:ext cx="10668000" cy="3924299"/>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Problem Statement</a:t>
            </a:r>
          </a:p>
          <a:p>
            <a:pPr marL="495300" indent="-342900" algn="just">
              <a:lnSpc>
                <a:spcPct val="200000"/>
              </a:lnSpc>
              <a:spcBef>
                <a:spcPts val="0"/>
              </a:spcBef>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Abstract</a:t>
            </a:r>
          </a:p>
          <a:p>
            <a:pPr marL="495300" indent="-342900" algn="just">
              <a:lnSpc>
                <a:spcPct val="200000"/>
              </a:lnSpc>
              <a:spcBef>
                <a:spcPts val="0"/>
              </a:spcBef>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Literature Survey</a:t>
            </a:r>
          </a:p>
          <a:p>
            <a:pPr marL="495300" indent="-342900" algn="just">
              <a:lnSpc>
                <a:spcPct val="200000"/>
              </a:lnSpc>
              <a:spcBef>
                <a:spcPts val="0"/>
              </a:spcBef>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Objectives</a:t>
            </a:r>
          </a:p>
          <a:p>
            <a:pPr marL="495300" indent="-342900" algn="just">
              <a:lnSpc>
                <a:spcPct val="200000"/>
              </a:lnSpc>
              <a:spcBef>
                <a:spcPts val="0"/>
              </a:spcBef>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Data Sources</a:t>
            </a:r>
          </a:p>
          <a:p>
            <a:pPr marL="495300" indent="-342900" algn="just">
              <a:lnSpc>
                <a:spcPct val="200000"/>
              </a:lnSpc>
              <a:spcBef>
                <a:spcPts val="0"/>
              </a:spcBef>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Architecture Diagram</a:t>
            </a:r>
          </a:p>
          <a:p>
            <a:pPr marL="495300" indent="-342900" algn="just">
              <a:lnSpc>
                <a:spcPct val="200000"/>
              </a:lnSpc>
              <a:spcBef>
                <a:spcPts val="0"/>
              </a:spcBef>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Modules</a:t>
            </a:r>
          </a:p>
          <a:p>
            <a:pPr marL="495300" indent="-342900" algn="just">
              <a:lnSpc>
                <a:spcPct val="200000"/>
              </a:lnSpc>
              <a:spcBef>
                <a:spcPts val="0"/>
              </a:spcBef>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Hardware and Software Details</a:t>
            </a:r>
          </a:p>
          <a:p>
            <a:pPr marL="495300" indent="-342900" algn="just">
              <a:lnSpc>
                <a:spcPct val="200000"/>
              </a:lnSpc>
              <a:spcBef>
                <a:spcPts val="0"/>
              </a:spcBef>
            </a:pPr>
            <a:r>
              <a:rPr lang="en-US" sz="1500" dirty="0">
                <a:latin typeface="Calibri" panose="020F0502020204030204" pitchFamily="34" charset="0"/>
                <a:ea typeface="Calibri" panose="020F0502020204030204" pitchFamily="34" charset="0"/>
                <a:cs typeface="Calibri" panose="020F0502020204030204" pitchFamily="34" charset="0"/>
              </a:rPr>
              <a:t>Timeline of the Project (Gantt Chart)</a:t>
            </a:r>
          </a:p>
          <a:p>
            <a:pPr marL="495300" indent="-342900" algn="just">
              <a:lnSpc>
                <a:spcPct val="200000"/>
              </a:lnSpc>
              <a:spcBef>
                <a:spcPts val="0"/>
              </a:spcBef>
            </a:pPr>
            <a:r>
              <a:rPr lang="en-US" sz="1500" dirty="0">
                <a:latin typeface="Calibri" panose="020F0502020204030204" pitchFamily="34" charset="0"/>
                <a:ea typeface="Calibri" panose="020F0502020204030204" pitchFamily="34" charset="0"/>
                <a:cs typeface="Calibri" panose="020F0502020204030204" pitchFamily="34" charset="0"/>
              </a:rPr>
              <a:t>References</a:t>
            </a:r>
          </a:p>
          <a:p>
            <a:pPr marL="152400" indent="0" algn="just">
              <a:lnSpc>
                <a:spcPct val="200000"/>
              </a:lnSpc>
              <a:spcBef>
                <a:spcPts val="0"/>
              </a:spcBef>
              <a:buNone/>
            </a:pPr>
            <a:endParaRPr lang="en-US" sz="1500" dirty="0">
              <a:latin typeface="Calibri" panose="020F0502020204030204" pitchFamily="34" charset="0"/>
              <a:ea typeface="Calibri" panose="020F0502020204030204" pitchFamily="34" charset="0"/>
              <a:cs typeface="Calibri" panose="020F0502020204030204" pitchFamily="34" charset="0"/>
            </a:endParaRPr>
          </a:p>
          <a:p>
            <a:pPr marL="152400" lvl="0" indent="0" algn="just">
              <a:lnSpc>
                <a:spcPct val="200000"/>
              </a:lnSpc>
              <a:spcBef>
                <a:spcPts val="0"/>
              </a:spcBef>
              <a:buNone/>
            </a:pPr>
            <a:endParaRPr lang="en-US" sz="1500" dirty="0">
              <a:latin typeface="Calibri" panose="020F0502020204030204" pitchFamily="34" charset="0"/>
              <a:ea typeface="Calibri" panose="020F0502020204030204" pitchFamily="34" charset="0"/>
              <a:cs typeface="Calibri" panose="020F0502020204030204" pitchFamily="34" charset="0"/>
            </a:endParaRPr>
          </a:p>
          <a:p>
            <a:pPr marL="152400" lvl="0" indent="0" algn="just">
              <a:lnSpc>
                <a:spcPct val="200000"/>
              </a:lnSpc>
              <a:spcBef>
                <a:spcPts val="0"/>
              </a:spcBef>
              <a:buNone/>
            </a:pPr>
            <a:endParaRPr lang="en-US" sz="1500" dirty="0">
              <a:latin typeface="Calibri" panose="020F0502020204030204" pitchFamily="34" charset="0"/>
              <a:ea typeface="Calibri" panose="020F0502020204030204" pitchFamily="34" charset="0"/>
              <a:cs typeface="Calibri" panose="020F0502020204030204" pitchFamily="34" charset="0"/>
            </a:endParaRPr>
          </a:p>
          <a:p>
            <a:pPr marL="495300" lvl="0" indent="-342900" algn="just">
              <a:lnSpc>
                <a:spcPct val="200000"/>
              </a:lnSpc>
              <a:spcBef>
                <a:spcPts val="0"/>
              </a:spcBef>
              <a:buFont typeface="Wingdings" panose="05000000000000000000" pitchFamily="2" charset="2"/>
              <a:buChar char="Ø"/>
            </a:pP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675147" y="284470"/>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Problem Statement Number: PSCS_6 </a:t>
            </a:r>
            <a:endParaRPr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9252C005-F5A4-7913-CF05-3638DA76C6F2}"/>
              </a:ext>
            </a:extLst>
          </p:cNvPr>
          <p:cNvSpPr txBox="1"/>
          <p:nvPr/>
        </p:nvSpPr>
        <p:spPr>
          <a:xfrm>
            <a:off x="675147" y="1002889"/>
            <a:ext cx="10805653" cy="5016758"/>
          </a:xfrm>
          <a:prstGeom prst="rect">
            <a:avLst/>
          </a:prstGeom>
          <a:noFill/>
        </p:spPr>
        <p:txBody>
          <a:bodyPr wrap="square" rtlCol="0">
            <a:spAutoFit/>
          </a:bodyPr>
          <a:lstStyle/>
          <a:p>
            <a:pPr marL="342900" lvl="0" indent="-190500" algn="just"/>
            <a:r>
              <a:rPr lang="en-US" sz="2000" b="1" dirty="0">
                <a:latin typeface="Calibri" panose="020F0502020204030204" pitchFamily="34" charset="0"/>
                <a:ea typeface="Calibri" panose="020F0502020204030204" pitchFamily="34" charset="0"/>
                <a:cs typeface="Calibri" panose="020F0502020204030204" pitchFamily="34" charset="0"/>
              </a:rPr>
              <a:t>Organization :</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a:latin typeface="Cambria" panose="02040503050406030204" pitchFamily="18" charset="0"/>
                <a:ea typeface="Cambria" panose="02040503050406030204" pitchFamily="18" charset="0"/>
              </a:rPr>
              <a:t>Department of Computer Science and Engineering,</a:t>
            </a:r>
          </a:p>
          <a:p>
            <a:pPr marL="342900" lvl="0" indent="-190500" algn="just"/>
            <a:r>
              <a:rPr lang="en-US" sz="2000" dirty="0">
                <a:latin typeface="Cambria" panose="02040503050406030204" pitchFamily="18" charset="0"/>
                <a:ea typeface="Cambria" panose="02040503050406030204" pitchFamily="18" charset="0"/>
              </a:rPr>
              <a:t>Presidency University Bangalore</a:t>
            </a:r>
          </a:p>
          <a:p>
            <a:endParaRPr lang="en-US" sz="2000" b="1" dirty="0">
              <a:latin typeface="Calibri" panose="020F0502020204030204" pitchFamily="34" charset="0"/>
              <a:ea typeface="Calibri" panose="020F0502020204030204" pitchFamily="34" charset="0"/>
              <a:cs typeface="Calibri" panose="020F0502020204030204" pitchFamily="34" charset="0"/>
            </a:endParaRPr>
          </a:p>
          <a:p>
            <a:r>
              <a:rPr lang="en-US" sz="2000" b="1" dirty="0">
                <a:latin typeface="Calibri" panose="020F0502020204030204" pitchFamily="34" charset="0"/>
                <a:ea typeface="Calibri" panose="020F0502020204030204" pitchFamily="34" charset="0"/>
                <a:cs typeface="Calibri" panose="020F0502020204030204" pitchFamily="34" charset="0"/>
              </a:rPr>
              <a:t>Category (Hardware / Software / Both) :</a:t>
            </a:r>
            <a:r>
              <a:rPr lang="en-US" sz="2000" dirty="0">
                <a:latin typeface="Calibri" panose="020F0502020204030204" pitchFamily="34" charset="0"/>
                <a:ea typeface="Calibri" panose="020F0502020204030204" pitchFamily="34" charset="0"/>
                <a:cs typeface="Calibri" panose="020F0502020204030204" pitchFamily="34" charset="0"/>
              </a:rPr>
              <a:t>  Software</a:t>
            </a:r>
          </a:p>
          <a:p>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b="1" dirty="0">
                <a:latin typeface="Cambria" panose="02040503050406030204" pitchFamily="18" charset="0"/>
                <a:ea typeface="Cambria" panose="02040503050406030204" pitchFamily="18" charset="0"/>
              </a:rPr>
              <a:t>Problem Description: </a:t>
            </a:r>
            <a:endParaRPr lang="en-US" sz="2000" b="1"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Floods are one of the most destructive natural disasters, causing loss of lives, damage to      infrastructure, and economic setbacks. Traditional prediction methods often lack accuracy and timeliness. This project uses machine learning with multi-source data—rainfall, river levels, temperature, and satellite imagery—to provide accurate, real-time flood forecasts for better preparedness and response.</a:t>
            </a:r>
          </a:p>
          <a:p>
            <a:r>
              <a:rPr lang="en-US" sz="2000" b="1" dirty="0">
                <a:latin typeface="Calibri" panose="020F0502020204030204" pitchFamily="34" charset="0"/>
                <a:ea typeface="Calibri" panose="020F0502020204030204" pitchFamily="34" charset="0"/>
                <a:cs typeface="Calibri" panose="020F0502020204030204" pitchFamily="34" charset="0"/>
              </a:rPr>
              <a:t>  </a:t>
            </a:r>
          </a:p>
          <a:p>
            <a:r>
              <a:rPr lang="en-IN" sz="2000" dirty="0"/>
              <a:t> </a:t>
            </a:r>
          </a:p>
          <a:p>
            <a:endParaRPr lang="en-US" sz="2000" dirty="0">
              <a:latin typeface="Calibri" panose="020F0502020204030204" pitchFamily="34" charset="0"/>
              <a:ea typeface="Calibri" panose="020F0502020204030204" pitchFamily="34" charset="0"/>
              <a:cs typeface="Calibri" panose="020F0502020204030204" pitchFamily="34" charset="0"/>
            </a:endParaRPr>
          </a:p>
          <a:p>
            <a:endParaRPr lang="en-US" sz="2000" dirty="0">
              <a:latin typeface="Calibri" panose="020F0502020204030204" pitchFamily="34" charset="0"/>
              <a:ea typeface="Calibri" panose="020F0502020204030204" pitchFamily="34" charset="0"/>
              <a:cs typeface="Calibri" panose="020F0502020204030204" pitchFamily="34" charset="0"/>
            </a:endParaRPr>
          </a:p>
          <a:p>
            <a:endParaRPr lang="en-IN" sz="2000" dirty="0"/>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0EACD-B773-5100-65FE-C3B240BB747C}"/>
              </a:ext>
            </a:extLst>
          </p:cNvPr>
          <p:cNvSpPr>
            <a:spLocks noGrp="1"/>
          </p:cNvSpPr>
          <p:nvPr>
            <p:ph type="title"/>
          </p:nvPr>
        </p:nvSpPr>
        <p:spPr>
          <a:xfrm>
            <a:off x="762000" y="469087"/>
            <a:ext cx="10668000" cy="487500"/>
          </a:xfrm>
        </p:spPr>
        <p:txBody>
          <a:bodyPr/>
          <a:lstStyle/>
          <a:p>
            <a:r>
              <a:rPr lang="en-US" dirty="0">
                <a:latin typeface="Cambria" panose="02040503050406030204" pitchFamily="18" charset="0"/>
                <a:ea typeface="Cambria" panose="02040503050406030204" pitchFamily="18" charset="0"/>
              </a:rPr>
              <a:t>Abstract</a:t>
            </a:r>
            <a:br>
              <a:rPr lang="en-US" dirty="0">
                <a:latin typeface="Cambria" panose="02040503050406030204" pitchFamily="18" charset="0"/>
                <a:ea typeface="Cambria" panose="02040503050406030204" pitchFamily="18" charset="0"/>
              </a:rPr>
            </a:br>
            <a:endParaRPr lang="en-IN" dirty="0"/>
          </a:p>
        </p:txBody>
      </p:sp>
      <p:sp>
        <p:nvSpPr>
          <p:cNvPr id="5" name="Rectangle 2">
            <a:extLst>
              <a:ext uri="{FF2B5EF4-FFF2-40B4-BE49-F238E27FC236}">
                <a16:creationId xmlns:a16="http://schemas.microsoft.com/office/drawing/2014/main" id="{0107AACA-E201-C8EE-E9F9-7D10725A8C6E}"/>
              </a:ext>
            </a:extLst>
          </p:cNvPr>
          <p:cNvSpPr>
            <a:spLocks noGrp="1" noChangeArrowheads="1"/>
          </p:cNvSpPr>
          <p:nvPr>
            <p:ph type="body" idx="1"/>
          </p:nvPr>
        </p:nvSpPr>
        <p:spPr bwMode="auto">
          <a:xfrm>
            <a:off x="447368" y="1469722"/>
            <a:ext cx="106680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ClrTx/>
              <a:buSzTx/>
              <a:buNone/>
            </a:pPr>
            <a:r>
              <a:rPr lang="en-US" sz="2000" dirty="0">
                <a:latin typeface="Calibri" panose="020F0502020204030204" pitchFamily="34" charset="0"/>
                <a:ea typeface="Calibri" panose="020F0502020204030204" pitchFamily="34" charset="0"/>
                <a:cs typeface="Calibri" panose="020F0502020204030204" pitchFamily="34" charset="0"/>
              </a:rPr>
              <a:t>This project focuses on Flood Prediction Using Satellite Imagery and Machine Learning, with an emphasis on backend model development. Using satellite-derived data on rainfall, soil moisture, water bodies, and topography, machine learning models like K-Means, </a:t>
            </a:r>
            <a:r>
              <a:rPr lang="en-US" sz="2000" dirty="0" err="1">
                <a:latin typeface="Calibri" panose="020F0502020204030204" pitchFamily="34" charset="0"/>
                <a:ea typeface="Calibri" panose="020F0502020204030204" pitchFamily="34" charset="0"/>
                <a:cs typeface="Calibri" panose="020F0502020204030204" pitchFamily="34" charset="0"/>
              </a:rPr>
              <a:t>XGBoost</a:t>
            </a:r>
            <a:r>
              <a:rPr lang="en-US" sz="2000" dirty="0">
                <a:latin typeface="Calibri" panose="020F0502020204030204" pitchFamily="34" charset="0"/>
                <a:ea typeface="Calibri" panose="020F0502020204030204" pitchFamily="34" charset="0"/>
                <a:cs typeface="Calibri" panose="020F0502020204030204" pitchFamily="34" charset="0"/>
              </a:rPr>
              <a:t>, and Decision Trees are trained and evaluated. Model performance is compared through standard metrics and visualizations to identify trends and accuracy levels. The backend aims to provide a scalable solution for reliable flood prediction, which can later be integrated into larger monitoring systems to support early-warning capabilities in flood-prone regions.</a:t>
            </a:r>
            <a:endPar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9607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6153E-96E1-15B9-3170-4251EC233B54}"/>
              </a:ext>
            </a:extLst>
          </p:cNvPr>
          <p:cNvSpPr>
            <a:spLocks noGrp="1"/>
          </p:cNvSpPr>
          <p:nvPr>
            <p:ph type="title"/>
          </p:nvPr>
        </p:nvSpPr>
        <p:spPr/>
        <p:txBody>
          <a:bodyPr/>
          <a:lstStyle/>
          <a:p>
            <a:r>
              <a:rPr lang="en-IN" dirty="0"/>
              <a:t>Objectives</a:t>
            </a:r>
          </a:p>
        </p:txBody>
      </p:sp>
      <p:sp>
        <p:nvSpPr>
          <p:cNvPr id="4" name="Rectangle 1">
            <a:extLst>
              <a:ext uri="{FF2B5EF4-FFF2-40B4-BE49-F238E27FC236}">
                <a16:creationId xmlns:a16="http://schemas.microsoft.com/office/drawing/2014/main" id="{56155B2A-AA61-F928-122F-E8C10013BAD6}"/>
              </a:ext>
            </a:extLst>
          </p:cNvPr>
          <p:cNvSpPr>
            <a:spLocks noGrp="1" noChangeArrowheads="1"/>
          </p:cNvSpPr>
          <p:nvPr>
            <p:ph type="body" idx="1"/>
          </p:nvPr>
        </p:nvSpPr>
        <p:spPr bwMode="auto">
          <a:xfrm>
            <a:off x="681703" y="-1057846"/>
            <a:ext cx="11300542" cy="6863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95300" lvl="0" indent="-342900" algn="just">
              <a:lnSpc>
                <a:spcPct val="200000"/>
              </a:lnSpc>
              <a:spcBef>
                <a:spcPts val="0"/>
              </a:spcBef>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Wingdings" panose="05000000000000000000" pitchFamily="2" charset="2"/>
              <a:buChar char="Ø"/>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495300" lvl="0" indent="-342900" algn="just">
              <a:lnSpc>
                <a:spcPct val="200000"/>
              </a:lnSpc>
              <a:spcBef>
                <a:spcPts val="0"/>
              </a:spcBef>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To collect and preprocess diverse flood-related datasets, including rainfall, river water </a:t>
            </a:r>
            <a:r>
              <a:rPr lang="en-US" sz="2000" dirty="0" err="1">
                <a:latin typeface="Calibri" panose="020F0502020204030204" pitchFamily="34" charset="0"/>
                <a:ea typeface="Calibri" panose="020F0502020204030204" pitchFamily="34" charset="0"/>
                <a:cs typeface="Calibri" panose="020F0502020204030204" pitchFamily="34" charset="0"/>
              </a:rPr>
              <a:t>levels,temperature</a:t>
            </a:r>
            <a:r>
              <a:rPr lang="en-US" sz="2000" dirty="0">
                <a:latin typeface="Calibri" panose="020F0502020204030204" pitchFamily="34" charset="0"/>
                <a:ea typeface="Calibri" panose="020F0502020204030204" pitchFamily="34" charset="0"/>
                <a:cs typeface="Calibri" panose="020F0502020204030204" pitchFamily="34" charset="0"/>
              </a:rPr>
              <a:t>, and historical flood records.</a:t>
            </a:r>
          </a:p>
          <a:p>
            <a:pPr marL="495300" lvl="0" indent="-342900" algn="just">
              <a:lnSpc>
                <a:spcPct val="200000"/>
              </a:lnSpc>
              <a:spcBef>
                <a:spcPts val="0"/>
              </a:spcBef>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To </a:t>
            </a:r>
            <a:r>
              <a:rPr lang="en-US" sz="2000" dirty="0" err="1">
                <a:latin typeface="Calibri" panose="020F0502020204030204" pitchFamily="34" charset="0"/>
                <a:ea typeface="Calibri" panose="020F0502020204030204" pitchFamily="34" charset="0"/>
                <a:cs typeface="Calibri" panose="020F0502020204030204" pitchFamily="34" charset="0"/>
              </a:rPr>
              <a:t>analyse</a:t>
            </a:r>
            <a:r>
              <a:rPr lang="en-US" sz="2000" dirty="0">
                <a:latin typeface="Calibri" panose="020F0502020204030204" pitchFamily="34" charset="0"/>
                <a:ea typeface="Calibri" panose="020F0502020204030204" pitchFamily="34" charset="0"/>
                <a:cs typeface="Calibri" panose="020F0502020204030204" pitchFamily="34" charset="0"/>
              </a:rPr>
              <a:t> and evaluate model performance based on accuracy, precision, and recall to determine the most effective approach.</a:t>
            </a:r>
          </a:p>
          <a:p>
            <a:pPr marL="495300" lvl="0" indent="-342900" algn="just">
              <a:lnSpc>
                <a:spcPct val="200000"/>
              </a:lnSpc>
              <a:spcBef>
                <a:spcPts val="0"/>
              </a:spcBef>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To develop a real-time flood forecasting system capable of providing early warnings for high-risk areas.</a:t>
            </a:r>
          </a:p>
          <a:p>
            <a:pPr marL="495300" lvl="0" indent="-342900" algn="just">
              <a:lnSpc>
                <a:spcPct val="200000"/>
              </a:lnSpc>
              <a:spcBef>
                <a:spcPts val="0"/>
              </a:spcBef>
              <a:buFont typeface="Wingdings" panose="05000000000000000000" pitchFamily="2" charset="2"/>
              <a:buChar char="Ø"/>
            </a:pPr>
            <a:r>
              <a:rPr lang="en-US" sz="2000" dirty="0"/>
              <a:t>To implement and compare multiple machine learning models (e.g. K-means, </a:t>
            </a:r>
            <a:r>
              <a:rPr lang="en-US" sz="2000" dirty="0" err="1"/>
              <a:t>XGBoost</a:t>
            </a:r>
            <a:r>
              <a:rPr lang="en-US" sz="2000" dirty="0"/>
              <a:t>) for flood prediction.</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86460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F2F62-D827-5142-EC4E-56D8DC72D49F}"/>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Data Sources</a:t>
            </a:r>
            <a:endParaRPr lang="en-IN" dirty="0"/>
          </a:p>
        </p:txBody>
      </p:sp>
      <p:sp>
        <p:nvSpPr>
          <p:cNvPr id="3" name="Text Placeholder 2">
            <a:extLst>
              <a:ext uri="{FF2B5EF4-FFF2-40B4-BE49-F238E27FC236}">
                <a16:creationId xmlns:a16="http://schemas.microsoft.com/office/drawing/2014/main" id="{EA80B8BC-3C7E-6F3E-514B-D98CAABBA7F4}"/>
              </a:ext>
            </a:extLst>
          </p:cNvPr>
          <p:cNvSpPr>
            <a:spLocks noGrp="1"/>
          </p:cNvSpPr>
          <p:nvPr>
            <p:ph type="body" idx="1"/>
          </p:nvPr>
        </p:nvSpPr>
        <p:spPr/>
        <p:txBody>
          <a:bodyPr>
            <a:normAutofit/>
          </a:bodyPr>
          <a:lstStyle/>
          <a:p>
            <a:pPr marL="76200" indent="0">
              <a:buNone/>
            </a:pPr>
            <a:r>
              <a:rPr lang="en-IN" sz="2000" b="1" dirty="0"/>
              <a:t>INSAT Data</a:t>
            </a:r>
            <a:r>
              <a:rPr lang="en-IN" sz="2000" dirty="0"/>
              <a:t>:-</a:t>
            </a:r>
            <a:r>
              <a:rPr lang="en-US" sz="2000" dirty="0"/>
              <a:t>Provides a broad, remote-sensing perspective on atmospheric conditions.</a:t>
            </a:r>
          </a:p>
          <a:p>
            <a:pPr marL="76200" indent="0">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IN" sz="2000" b="1" dirty="0"/>
              <a:t>Tidal Data</a:t>
            </a:r>
            <a:r>
              <a:rPr lang="en-IN" sz="2000" dirty="0"/>
              <a:t>:-</a:t>
            </a:r>
            <a:r>
              <a:rPr lang="en-US" sz="2000" dirty="0"/>
              <a:t>Crucial for coastal areas; gives precise sea level, tide height, and state (Rising/Falling).</a:t>
            </a:r>
          </a:p>
          <a:p>
            <a:pPr marL="76200" indent="0">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IN" sz="2000" b="1" dirty="0"/>
              <a:t>Weather Data</a:t>
            </a:r>
            <a:r>
              <a:rPr lang="en-IN" sz="2000" dirty="0"/>
              <a:t>:-</a:t>
            </a:r>
            <a:r>
              <a:rPr lang="en-US" sz="2000" dirty="0"/>
              <a:t>Captures ground-level meteorological factors like rainfall, humidity, and cloudiness.</a:t>
            </a:r>
          </a:p>
        </p:txBody>
      </p:sp>
    </p:spTree>
    <p:extLst>
      <p:ext uri="{BB962C8B-B14F-4D97-AF65-F5344CB8AC3E}">
        <p14:creationId xmlns:p14="http://schemas.microsoft.com/office/powerpoint/2010/main" val="587002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810AA-3946-CB9C-6721-C62BACB91582}"/>
              </a:ext>
            </a:extLst>
          </p:cNvPr>
          <p:cNvSpPr>
            <a:spLocks noGrp="1"/>
          </p:cNvSpPr>
          <p:nvPr>
            <p:ph type="title"/>
          </p:nvPr>
        </p:nvSpPr>
        <p:spPr/>
        <p:txBody>
          <a:bodyPr/>
          <a:lstStyle/>
          <a:p>
            <a:r>
              <a:rPr lang="en-IN" dirty="0"/>
              <a:t>Methodology &amp; Workflow</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ED9E8FD8-D6C9-B9B8-6E67-9D8723954D5C}"/>
              </a:ext>
            </a:extLst>
          </p:cNvPr>
          <p:cNvSpPr>
            <a:spLocks noGrp="1"/>
          </p:cNvSpPr>
          <p:nvPr>
            <p:ph type="body" idx="1"/>
          </p:nvPr>
        </p:nvSpPr>
        <p:spPr>
          <a:xfrm>
            <a:off x="762000" y="952500"/>
            <a:ext cx="10668000" cy="4953000"/>
          </a:xfrm>
        </p:spPr>
        <p:txBody>
          <a:bodyPr>
            <a:normAutofit lnSpcReduction="10000"/>
          </a:bodyPr>
          <a:lstStyle/>
          <a:p>
            <a:endParaRPr lang="en-US" sz="500" b="1"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US" sz="2000" b="1" dirty="0"/>
              <a:t>1.Data Loading &amp; Initial Cleaning:-</a:t>
            </a:r>
            <a:r>
              <a:rPr lang="en-US" sz="2000" dirty="0"/>
              <a:t>Load three separate datasets.</a:t>
            </a:r>
          </a:p>
          <a:p>
            <a:pPr marL="76200" indent="0">
              <a:buNone/>
            </a:pPr>
            <a:r>
              <a:rPr lang="en-US" sz="2000" dirty="0"/>
              <a:t>Handle basic formatting and drop irrelevant columns.</a:t>
            </a:r>
          </a:p>
          <a:p>
            <a:pPr marL="76200" indent="0">
              <a:buNone/>
            </a:pPr>
            <a:endParaRPr lang="en-US" sz="2000" dirty="0"/>
          </a:p>
          <a:p>
            <a:pPr marL="76200" indent="0">
              <a:buNone/>
            </a:pPr>
            <a:r>
              <a:rPr lang="en-US" sz="2000" b="1" dirty="0"/>
              <a:t>2.Data Extraction &amp; Transformation:-</a:t>
            </a:r>
            <a:r>
              <a:rPr lang="en-US" sz="2000" dirty="0"/>
              <a:t>Parse nested JSON data to extract key values (e.g., humidity, rain volume, tide height).</a:t>
            </a:r>
          </a:p>
          <a:p>
            <a:pPr marL="76200" indent="0">
              <a:buNone/>
            </a:pPr>
            <a:endParaRPr lang="en-US" sz="2000" dirty="0"/>
          </a:p>
          <a:p>
            <a:pPr marL="76200" indent="0">
              <a:buNone/>
            </a:pPr>
            <a:r>
              <a:rPr lang="en-US" sz="2000" b="1" dirty="0"/>
              <a:t>3.Data Integration:-</a:t>
            </a:r>
            <a:r>
              <a:rPr lang="en-US" sz="2000" dirty="0"/>
              <a:t>Merge all three datasets into a single master </a:t>
            </a:r>
            <a:r>
              <a:rPr lang="en-US" sz="2000" dirty="0" err="1"/>
              <a:t>DataFrame</a:t>
            </a:r>
            <a:r>
              <a:rPr lang="en-US" sz="2000" dirty="0"/>
              <a:t> based on timestamps.</a:t>
            </a:r>
          </a:p>
          <a:p>
            <a:pPr marL="76200" indent="0">
              <a:buNone/>
            </a:pPr>
            <a:endParaRPr lang="en-US" sz="2000" dirty="0"/>
          </a:p>
          <a:p>
            <a:pPr marL="76200" indent="0">
              <a:buNone/>
            </a:pPr>
            <a:r>
              <a:rPr lang="en-US" sz="2000" b="1" dirty="0"/>
              <a:t>4.Feature </a:t>
            </a:r>
            <a:r>
              <a:rPr lang="en-US" sz="2000" b="1" dirty="0" err="1"/>
              <a:t>Engineering:</a:t>
            </a:r>
            <a:r>
              <a:rPr lang="en-US" sz="2000" dirty="0" err="1"/>
              <a:t>Create</a:t>
            </a:r>
            <a:r>
              <a:rPr lang="en-US" sz="2000" dirty="0"/>
              <a:t> a binary </a:t>
            </a:r>
            <a:r>
              <a:rPr lang="en-US" dirty="0"/>
              <a:t>target</a:t>
            </a:r>
            <a:r>
              <a:rPr lang="en-US" sz="2000" dirty="0"/>
              <a:t> variable to define a "flood risk" event.</a:t>
            </a:r>
          </a:p>
          <a:p>
            <a:pPr marL="76200" indent="0">
              <a:buNone/>
            </a:pPr>
            <a:endParaRPr lang="en-US" sz="2000" dirty="0"/>
          </a:p>
          <a:p>
            <a:pPr marL="76200" indent="0">
              <a:buNone/>
            </a:pPr>
            <a:r>
              <a:rPr lang="en-US" sz="2000" b="1" dirty="0"/>
              <a:t>5. Exploratory Data Analysis (EDA):-</a:t>
            </a:r>
            <a:r>
              <a:rPr lang="en-US" sz="2000" dirty="0"/>
              <a:t>Visualize data to identify key patterns and correlations.</a:t>
            </a:r>
          </a:p>
          <a:p>
            <a:pPr marL="76200" indent="0">
              <a:buNone/>
            </a:pPr>
            <a:endParaRPr lang="en-US" sz="2000" dirty="0"/>
          </a:p>
          <a:p>
            <a:pPr marL="76200" indent="0">
              <a:buNone/>
            </a:pPr>
            <a:endParaRPr lang="en-US" sz="2000" dirty="0"/>
          </a:p>
          <a:p>
            <a:pPr marL="76200" indent="0">
              <a:buNone/>
            </a:pPr>
            <a:endParaRPr lang="en-US" sz="2000" dirty="0"/>
          </a:p>
        </p:txBody>
      </p:sp>
    </p:spTree>
    <p:extLst>
      <p:ext uri="{BB962C8B-B14F-4D97-AF65-F5344CB8AC3E}">
        <p14:creationId xmlns:p14="http://schemas.microsoft.com/office/powerpoint/2010/main" val="1868253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63E0D-EED3-CA30-CE94-DFFAA0629DDB}"/>
              </a:ext>
            </a:extLst>
          </p:cNvPr>
          <p:cNvSpPr>
            <a:spLocks noGrp="1"/>
          </p:cNvSpPr>
          <p:nvPr>
            <p:ph type="title"/>
          </p:nvPr>
        </p:nvSpPr>
        <p:spPr/>
        <p:txBody>
          <a:bodyPr/>
          <a:lstStyle/>
          <a:p>
            <a:r>
              <a:rPr lang="en-IN" dirty="0"/>
              <a:t>Data Preprocessing in Action</a:t>
            </a:r>
          </a:p>
        </p:txBody>
      </p:sp>
      <p:sp>
        <p:nvSpPr>
          <p:cNvPr id="3" name="Text Placeholder 2">
            <a:extLst>
              <a:ext uri="{FF2B5EF4-FFF2-40B4-BE49-F238E27FC236}">
                <a16:creationId xmlns:a16="http://schemas.microsoft.com/office/drawing/2014/main" id="{7D5E8992-F43A-171F-BA38-365D5234FEB6}"/>
              </a:ext>
            </a:extLst>
          </p:cNvPr>
          <p:cNvSpPr>
            <a:spLocks noGrp="1"/>
          </p:cNvSpPr>
          <p:nvPr>
            <p:ph type="body" idx="1"/>
          </p:nvPr>
        </p:nvSpPr>
        <p:spPr/>
        <p:txBody>
          <a:bodyPr/>
          <a:lstStyle/>
          <a:p>
            <a:r>
              <a:rPr lang="en-US" b="1" dirty="0"/>
              <a:t>Transforming Complex Data into Usable Features</a:t>
            </a:r>
            <a:endParaRPr lang="en-US" dirty="0"/>
          </a:p>
          <a:p>
            <a:r>
              <a:rPr lang="en-US" b="1" dirty="0"/>
              <a:t>Challenge:</a:t>
            </a:r>
            <a:r>
              <a:rPr lang="en-US" dirty="0"/>
              <a:t> Tidal and Weather data were in a nested JSON format, which is unusable for a model.</a:t>
            </a:r>
          </a:p>
          <a:p>
            <a:r>
              <a:rPr lang="en-US" b="1" dirty="0"/>
              <a:t>Solution:</a:t>
            </a:r>
            <a:r>
              <a:rPr lang="en-US" dirty="0"/>
              <a:t> We developed scripts to parse these structures and extract key information into new, clean columns.</a:t>
            </a:r>
          </a:p>
          <a:p>
            <a:r>
              <a:rPr lang="en-IN" dirty="0"/>
              <a:t>Example:</a:t>
            </a:r>
          </a:p>
          <a:p>
            <a:pPr marL="76200" indent="0">
              <a:buNone/>
            </a:pPr>
            <a:r>
              <a:rPr lang="en-IN" b="1" dirty="0"/>
              <a:t>   </a:t>
            </a:r>
            <a:r>
              <a:rPr lang="en-US" b="1" dirty="0"/>
              <a:t>Before:</a:t>
            </a:r>
            <a:r>
              <a:rPr lang="en-US" dirty="0"/>
              <a:t> weather column: [{'description': 'heavy intensity rain', ...}]</a:t>
            </a:r>
          </a:p>
          <a:p>
            <a:pPr marL="76200" indent="0">
              <a:buNone/>
            </a:pPr>
            <a:r>
              <a:rPr lang="en-US" b="1" dirty="0"/>
              <a:t>   After:</a:t>
            </a:r>
            <a:r>
              <a:rPr lang="en-US" dirty="0"/>
              <a:t> </a:t>
            </a:r>
            <a:r>
              <a:rPr lang="en-US" dirty="0" err="1"/>
              <a:t>Weather_description</a:t>
            </a:r>
            <a:r>
              <a:rPr lang="en-US" dirty="0"/>
              <a:t> column: 'heavy intensity rain’     humidity column: 85 cloudiness column: 92</a:t>
            </a:r>
          </a:p>
          <a:p>
            <a:pPr marL="76200" indent="0">
              <a:buNone/>
            </a:pPr>
            <a:endParaRPr lang="en-IN" dirty="0"/>
          </a:p>
        </p:txBody>
      </p:sp>
    </p:spTree>
    <p:extLst>
      <p:ext uri="{BB962C8B-B14F-4D97-AF65-F5344CB8AC3E}">
        <p14:creationId xmlns:p14="http://schemas.microsoft.com/office/powerpoint/2010/main" val="547487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3A666-7AE2-2DBC-5822-9C100DCF1A47}"/>
              </a:ext>
            </a:extLst>
          </p:cNvPr>
          <p:cNvSpPr>
            <a:spLocks noGrp="1"/>
          </p:cNvSpPr>
          <p:nvPr>
            <p:ph type="title"/>
          </p:nvPr>
        </p:nvSpPr>
        <p:spPr>
          <a:xfrm>
            <a:off x="812800" y="683490"/>
            <a:ext cx="10668000" cy="78647"/>
          </a:xfrm>
        </p:spPr>
        <p:txBody>
          <a:bodyPr/>
          <a:lstStyle/>
          <a:p>
            <a:r>
              <a:rPr lang="en-US" dirty="0"/>
              <a:t>Feature Engineering - The target Variable</a:t>
            </a:r>
            <a:br>
              <a:rPr lang="en-US" dirty="0"/>
            </a:br>
            <a:endParaRPr lang="en-IN" dirty="0"/>
          </a:p>
        </p:txBody>
      </p:sp>
      <p:sp>
        <p:nvSpPr>
          <p:cNvPr id="3" name="Text Placeholder 2">
            <a:extLst>
              <a:ext uri="{FF2B5EF4-FFF2-40B4-BE49-F238E27FC236}">
                <a16:creationId xmlns:a16="http://schemas.microsoft.com/office/drawing/2014/main" id="{EEE2DC2D-3BDA-C6F2-A8CF-24B6296E7EBC}"/>
              </a:ext>
            </a:extLst>
          </p:cNvPr>
          <p:cNvSpPr>
            <a:spLocks noGrp="1"/>
          </p:cNvSpPr>
          <p:nvPr>
            <p:ph type="body" idx="1"/>
          </p:nvPr>
        </p:nvSpPr>
        <p:spPr/>
        <p:txBody>
          <a:bodyPr/>
          <a:lstStyle/>
          <a:p>
            <a:r>
              <a:rPr lang="en-US" b="1" dirty="0"/>
              <a:t>Defining a Flood Risk Event</a:t>
            </a:r>
            <a:endParaRPr lang="en-US" dirty="0"/>
          </a:p>
          <a:p>
            <a:r>
              <a:rPr lang="en-US" dirty="0"/>
              <a:t>To train a predictive model, we need to tell it what it's trying to predict.</a:t>
            </a:r>
          </a:p>
          <a:p>
            <a:r>
              <a:rPr lang="en-US" dirty="0"/>
              <a:t>We created a target column to label high-risk conditions.</a:t>
            </a:r>
          </a:p>
          <a:p>
            <a:r>
              <a:rPr lang="en-US" dirty="0"/>
              <a:t>A row is labeled as a potential flood event (target = 1) if:</a:t>
            </a:r>
          </a:p>
          <a:p>
            <a:pPr lvl="1"/>
            <a:r>
              <a:rPr lang="en-US" dirty="0"/>
              <a:t>Humidity &gt; 90% </a:t>
            </a:r>
            <a:r>
              <a:rPr lang="en-US" b="1" dirty="0"/>
              <a:t>AND</a:t>
            </a:r>
            <a:endParaRPr lang="en-US" dirty="0"/>
          </a:p>
          <a:p>
            <a:pPr lvl="1"/>
            <a:r>
              <a:rPr lang="en-US" dirty="0"/>
              <a:t>Tidal Height &gt; 0.6m </a:t>
            </a:r>
            <a:r>
              <a:rPr lang="en-US" b="1" dirty="0"/>
              <a:t>OR</a:t>
            </a:r>
            <a:endParaRPr lang="en-US" dirty="0"/>
          </a:p>
          <a:p>
            <a:pPr lvl="1"/>
            <a:r>
              <a:rPr lang="en-US" dirty="0"/>
              <a:t>Weather is "moderate rain" or "light rain"</a:t>
            </a:r>
          </a:p>
        </p:txBody>
      </p:sp>
    </p:spTree>
    <p:extLst>
      <p:ext uri="{BB962C8B-B14F-4D97-AF65-F5344CB8AC3E}">
        <p14:creationId xmlns:p14="http://schemas.microsoft.com/office/powerpoint/2010/main" val="2235365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7D205-221B-F6B1-156E-B7A41DE9AB59}"/>
              </a:ext>
            </a:extLst>
          </p:cNvPr>
          <p:cNvSpPr>
            <a:spLocks noGrp="1"/>
          </p:cNvSpPr>
          <p:nvPr>
            <p:ph type="title"/>
          </p:nvPr>
        </p:nvSpPr>
        <p:spPr>
          <a:xfrm>
            <a:off x="812800" y="439591"/>
            <a:ext cx="10668000" cy="487500"/>
          </a:xfrm>
        </p:spPr>
        <p:txBody>
          <a:bodyPr/>
          <a:lstStyle/>
          <a:p>
            <a:r>
              <a:rPr lang="en-US" dirty="0">
                <a:latin typeface="Cambria" panose="02040503050406030204" pitchFamily="18" charset="0"/>
                <a:ea typeface="Cambria" panose="02040503050406030204" pitchFamily="18" charset="0"/>
              </a:rPr>
              <a:t>Architecture Diagram</a:t>
            </a:r>
            <a:br>
              <a:rPr lang="en-US" dirty="0">
                <a:latin typeface="Cambria" panose="02040503050406030204" pitchFamily="18" charset="0"/>
                <a:ea typeface="Cambria" panose="02040503050406030204" pitchFamily="18" charset="0"/>
              </a:rPr>
            </a:br>
            <a:endParaRPr lang="en-IN" dirty="0"/>
          </a:p>
        </p:txBody>
      </p:sp>
      <p:sp>
        <p:nvSpPr>
          <p:cNvPr id="3" name="Text Placeholder 2">
            <a:extLst>
              <a:ext uri="{FF2B5EF4-FFF2-40B4-BE49-F238E27FC236}">
                <a16:creationId xmlns:a16="http://schemas.microsoft.com/office/drawing/2014/main" id="{C1A86A5E-9839-E9DA-D816-5D229943B02F}"/>
              </a:ext>
            </a:extLst>
          </p:cNvPr>
          <p:cNvSpPr>
            <a:spLocks noGrp="1"/>
          </p:cNvSpPr>
          <p:nvPr>
            <p:ph type="body" idx="1"/>
          </p:nvPr>
        </p:nvSpPr>
        <p:spPr>
          <a:xfrm>
            <a:off x="812800" y="1143001"/>
            <a:ext cx="8183716" cy="4953000"/>
          </a:xfrm>
        </p:spPr>
        <p:txBody>
          <a:bodyPr/>
          <a:lstStyle/>
          <a:p>
            <a:endParaRPr lang="en-IN" dirty="0"/>
          </a:p>
        </p:txBody>
      </p:sp>
      <p:pic>
        <p:nvPicPr>
          <p:cNvPr id="5" name="Picture 4">
            <a:extLst>
              <a:ext uri="{FF2B5EF4-FFF2-40B4-BE49-F238E27FC236}">
                <a16:creationId xmlns:a16="http://schemas.microsoft.com/office/drawing/2014/main" id="{CBDDDC10-AE30-4375-B2D1-2F2EA42D3FF7}"/>
              </a:ext>
            </a:extLst>
          </p:cNvPr>
          <p:cNvPicPr>
            <a:picLocks noChangeAspect="1"/>
          </p:cNvPicPr>
          <p:nvPr/>
        </p:nvPicPr>
        <p:blipFill>
          <a:blip r:embed="rId2"/>
          <a:stretch>
            <a:fillRect/>
          </a:stretch>
        </p:blipFill>
        <p:spPr>
          <a:xfrm>
            <a:off x="914400" y="1255610"/>
            <a:ext cx="7773475" cy="4132468"/>
          </a:xfrm>
          <a:prstGeom prst="rect">
            <a:avLst/>
          </a:prstGeom>
        </p:spPr>
      </p:pic>
    </p:spTree>
    <p:extLst>
      <p:ext uri="{BB962C8B-B14F-4D97-AF65-F5344CB8AC3E}">
        <p14:creationId xmlns:p14="http://schemas.microsoft.com/office/powerpoint/2010/main" val="1041429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4A2F1-969C-4BEB-3BB4-646E3218B867}"/>
              </a:ext>
            </a:extLst>
          </p:cNvPr>
          <p:cNvSpPr>
            <a:spLocks noGrp="1"/>
          </p:cNvSpPr>
          <p:nvPr>
            <p:ph type="title"/>
          </p:nvPr>
        </p:nvSpPr>
        <p:spPr/>
        <p:txBody>
          <a:bodyPr/>
          <a:lstStyle/>
          <a:p>
            <a:r>
              <a:rPr lang="en-IN" sz="2400" dirty="0"/>
              <a:t>Hardware and Software</a:t>
            </a:r>
          </a:p>
        </p:txBody>
      </p:sp>
      <p:sp>
        <p:nvSpPr>
          <p:cNvPr id="4" name="Rectangle 1">
            <a:extLst>
              <a:ext uri="{FF2B5EF4-FFF2-40B4-BE49-F238E27FC236}">
                <a16:creationId xmlns:a16="http://schemas.microsoft.com/office/drawing/2014/main" id="{F8106957-68B8-92D6-A6ED-6A360CAF6B08}"/>
              </a:ext>
            </a:extLst>
          </p:cNvPr>
          <p:cNvSpPr>
            <a:spLocks noGrp="1" noChangeArrowheads="1"/>
          </p:cNvSpPr>
          <p:nvPr>
            <p:ph type="body" idx="1"/>
          </p:nvPr>
        </p:nvSpPr>
        <p:spPr bwMode="auto">
          <a:xfrm>
            <a:off x="812799" y="627796"/>
            <a:ext cx="7593781" cy="5032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Software</a:t>
            </a:r>
            <a:endParaRPr lang="en-US" altLang="en-US"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lvl="0" indent="0" eaLnBrk="0" fontAlgn="base" hangingPunct="0">
              <a:spcBef>
                <a:spcPct val="0"/>
              </a:spcBef>
              <a:spcAft>
                <a:spcPct val="0"/>
              </a:spcAft>
              <a:buClrTx/>
              <a:buSzTx/>
              <a:buFontTx/>
              <a:buChar char="•"/>
            </a:pPr>
            <a:r>
              <a:rPr lang="en-IN" sz="1800" dirty="0">
                <a:latin typeface="Calibri" panose="020F0502020204030204" pitchFamily="34" charset="0"/>
                <a:ea typeface="Calibri" panose="020F0502020204030204" pitchFamily="34" charset="0"/>
                <a:cs typeface="Calibri" panose="020F0502020204030204" pitchFamily="34" charset="0"/>
              </a:rPr>
              <a:t>OS: Windows/Linux/MacOS </a:t>
            </a:r>
          </a:p>
          <a:p>
            <a:pPr marL="0" lvl="0" indent="0" eaLnBrk="0" fontAlgn="base" hangingPunct="0">
              <a:spcBef>
                <a:spcPct val="0"/>
              </a:spcBef>
              <a:spcAft>
                <a:spcPct val="0"/>
              </a:spcAft>
              <a:buClrTx/>
              <a:buSzTx/>
              <a:buFontTx/>
              <a:buChar char="•"/>
            </a:pPr>
            <a:r>
              <a:rPr lang="en-IN" sz="1800" dirty="0">
                <a:latin typeface="Calibri" panose="020F0502020204030204" pitchFamily="34" charset="0"/>
                <a:ea typeface="Calibri" panose="020F0502020204030204" pitchFamily="34" charset="0"/>
                <a:cs typeface="Calibri" panose="020F0502020204030204" pitchFamily="34" charset="0"/>
              </a:rPr>
              <a:t> Programming Language: Python 3.8+ </a:t>
            </a:r>
          </a:p>
          <a:p>
            <a:pPr marL="0" lvl="0" indent="0" eaLnBrk="0" fontAlgn="base" hangingPunct="0">
              <a:spcBef>
                <a:spcPct val="0"/>
              </a:spcBef>
              <a:spcAft>
                <a:spcPct val="0"/>
              </a:spcAft>
              <a:buClrTx/>
              <a:buSzTx/>
              <a:buFontTx/>
              <a:buChar char="•"/>
            </a:pPr>
            <a:r>
              <a:rPr lang="en-IN" sz="1800" dirty="0">
                <a:latin typeface="Calibri" panose="020F0502020204030204" pitchFamily="34" charset="0"/>
                <a:ea typeface="Calibri" panose="020F0502020204030204" pitchFamily="34" charset="0"/>
                <a:cs typeface="Calibri" panose="020F0502020204030204" pitchFamily="34" charset="0"/>
              </a:rPr>
              <a:t> Key Libraries:</a:t>
            </a:r>
          </a:p>
          <a:p>
            <a:pPr marL="0" lvl="0" indent="0" eaLnBrk="0" fontAlgn="base" hangingPunct="0">
              <a:spcBef>
                <a:spcPct val="0"/>
              </a:spcBef>
              <a:spcAft>
                <a:spcPct val="0"/>
              </a:spcAft>
              <a:buClrTx/>
              <a:buSzTx/>
              <a:buFontTx/>
              <a:buChar char="•"/>
            </a:pPr>
            <a:r>
              <a:rPr lang="en-IN" sz="1800" dirty="0">
                <a:latin typeface="Calibri" panose="020F0502020204030204" pitchFamily="34" charset="0"/>
                <a:ea typeface="Calibri" panose="020F0502020204030204" pitchFamily="34" charset="0"/>
                <a:cs typeface="Calibri" panose="020F0502020204030204" pitchFamily="34" charset="0"/>
              </a:rPr>
              <a:t> Machine Learning: </a:t>
            </a:r>
            <a:r>
              <a:rPr lang="en-IN" sz="1800" dirty="0" err="1">
                <a:latin typeface="Calibri" panose="020F0502020204030204" pitchFamily="34" charset="0"/>
                <a:ea typeface="Calibri" panose="020F0502020204030204" pitchFamily="34" charset="0"/>
                <a:cs typeface="Calibri" panose="020F0502020204030204" pitchFamily="34" charset="0"/>
              </a:rPr>
              <a:t>xgboost</a:t>
            </a:r>
            <a:r>
              <a:rPr lang="en-IN" sz="1800" dirty="0">
                <a:latin typeface="Calibri" panose="020F0502020204030204" pitchFamily="34" charset="0"/>
                <a:ea typeface="Calibri" panose="020F0502020204030204" pitchFamily="34" charset="0"/>
                <a:cs typeface="Calibri" panose="020F0502020204030204" pitchFamily="34" charset="0"/>
              </a:rPr>
              <a:t>, scikit-learn </a:t>
            </a:r>
          </a:p>
          <a:p>
            <a:pPr marL="0" lvl="0" indent="0" eaLnBrk="0" fontAlgn="base" hangingPunct="0">
              <a:spcBef>
                <a:spcPct val="0"/>
              </a:spcBef>
              <a:spcAft>
                <a:spcPct val="0"/>
              </a:spcAft>
              <a:buClrTx/>
              <a:buSzTx/>
              <a:buFontTx/>
              <a:buChar char="•"/>
            </a:pPr>
            <a:r>
              <a:rPr lang="en-IN" sz="1800" dirty="0">
                <a:latin typeface="Calibri" panose="020F0502020204030204" pitchFamily="34" charset="0"/>
                <a:ea typeface="Calibri" panose="020F0502020204030204" pitchFamily="34" charset="0"/>
                <a:cs typeface="Calibri" panose="020F0502020204030204" pitchFamily="34" charset="0"/>
              </a:rPr>
              <a:t> Data Processing: pandas, </a:t>
            </a:r>
            <a:r>
              <a:rPr lang="en-IN" sz="1800" dirty="0" err="1">
                <a:latin typeface="Calibri" panose="020F0502020204030204" pitchFamily="34" charset="0"/>
                <a:ea typeface="Calibri" panose="020F0502020204030204" pitchFamily="34" charset="0"/>
                <a:cs typeface="Calibri" panose="020F0502020204030204" pitchFamily="34" charset="0"/>
              </a:rPr>
              <a:t>numpy</a:t>
            </a:r>
            <a:r>
              <a:rPr lang="en-IN" sz="1800" dirty="0">
                <a:latin typeface="Calibri" panose="020F0502020204030204" pitchFamily="34" charset="0"/>
                <a:ea typeface="Calibri" panose="020F0502020204030204" pitchFamily="34" charset="0"/>
                <a:cs typeface="Calibri" panose="020F0502020204030204" pitchFamily="34" charset="0"/>
              </a:rPr>
              <a:t> </a:t>
            </a:r>
          </a:p>
          <a:p>
            <a:pPr marL="0" lvl="0" indent="0" eaLnBrk="0" fontAlgn="base" hangingPunct="0">
              <a:spcBef>
                <a:spcPct val="0"/>
              </a:spcBef>
              <a:spcAft>
                <a:spcPct val="0"/>
              </a:spcAft>
              <a:buClrTx/>
              <a:buSzTx/>
              <a:buFontTx/>
              <a:buChar char="•"/>
            </a:pPr>
            <a:r>
              <a:rPr lang="en-IN" sz="1800" dirty="0">
                <a:latin typeface="Calibri" panose="020F0502020204030204" pitchFamily="34" charset="0"/>
                <a:ea typeface="Calibri" panose="020F0502020204030204" pitchFamily="34" charset="0"/>
                <a:cs typeface="Calibri" panose="020F0502020204030204" pitchFamily="34" charset="0"/>
              </a:rPr>
              <a:t> Visualization: matplotlib, seaborn </a:t>
            </a:r>
          </a:p>
          <a:p>
            <a:pPr marL="0" lvl="0" indent="0" eaLnBrk="0" fontAlgn="base" hangingPunct="0">
              <a:spcBef>
                <a:spcPct val="0"/>
              </a:spcBef>
              <a:spcAft>
                <a:spcPct val="0"/>
              </a:spcAft>
              <a:buClrTx/>
              <a:buSzTx/>
              <a:buFontTx/>
              <a:buChar char="•"/>
            </a:pPr>
            <a:r>
              <a:rPr lang="en-IN" sz="1800" dirty="0">
                <a:latin typeface="Calibri" panose="020F0502020204030204" pitchFamily="34" charset="0"/>
                <a:ea typeface="Calibri" panose="020F0502020204030204" pitchFamily="34" charset="0"/>
                <a:cs typeface="Calibri" panose="020F0502020204030204" pitchFamily="34" charset="0"/>
              </a:rPr>
              <a:t> APIs: requests</a:t>
            </a:r>
            <a:endPar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lvl="0" indent="0" eaLnBrk="0" fontAlgn="base" hangingPunct="0">
              <a:spcBef>
                <a:spcPct val="0"/>
              </a:spcBef>
              <a:spcAft>
                <a:spcPct val="0"/>
              </a:spcAft>
              <a:buClrTx/>
              <a:buSzTx/>
              <a:buNone/>
            </a:pPr>
            <a:endParaRPr lang="en-US" sz="2000" b="1" dirty="0">
              <a:latin typeface="Calibri" panose="020F0502020204030204" pitchFamily="34" charset="0"/>
              <a:ea typeface="Calibri" panose="020F0502020204030204" pitchFamily="34" charset="0"/>
              <a:cs typeface="Calibri" panose="020F0502020204030204" pitchFamily="34" charset="0"/>
            </a:endParaRPr>
          </a:p>
          <a:p>
            <a:pPr marL="0" lvl="0" indent="0" eaLnBrk="0" fontAlgn="base" hangingPunct="0">
              <a:spcBef>
                <a:spcPct val="0"/>
              </a:spcBef>
              <a:spcAft>
                <a:spcPct val="0"/>
              </a:spcAft>
              <a:buClrTx/>
              <a:buSzTx/>
              <a:buNone/>
            </a:pPr>
            <a:r>
              <a:rPr lang="en-US" sz="2000" b="1" dirty="0">
                <a:latin typeface="Calibri" panose="020F0502020204030204" pitchFamily="34" charset="0"/>
                <a:ea typeface="Calibri" panose="020F0502020204030204" pitchFamily="34" charset="0"/>
                <a:cs typeface="Calibri" panose="020F0502020204030204" pitchFamily="34" charset="0"/>
              </a:rPr>
              <a:t>Assumptions: </a:t>
            </a:r>
          </a:p>
          <a:p>
            <a:pPr marL="0" lvl="0" indent="0" eaLnBrk="0" fontAlgn="base" hangingPunct="0">
              <a:spcBef>
                <a:spcPct val="0"/>
              </a:spcBef>
              <a:spcAft>
                <a:spcPct val="0"/>
              </a:spcAft>
              <a:buClrTx/>
              <a:buSzTx/>
              <a:buNone/>
            </a:pPr>
            <a:r>
              <a:rPr lang="en-US" sz="1800" dirty="0">
                <a:latin typeface="Calibri" panose="020F0502020204030204" pitchFamily="34" charset="0"/>
                <a:ea typeface="Calibri" panose="020F0502020204030204" pitchFamily="34" charset="0"/>
                <a:cs typeface="Calibri" panose="020F0502020204030204" pitchFamily="34" charset="0"/>
              </a:rPr>
              <a:t>• </a:t>
            </a:r>
            <a:r>
              <a:rPr lang="en-US" sz="2000" dirty="0">
                <a:latin typeface="Calibri" panose="020F0502020204030204" pitchFamily="34" charset="0"/>
                <a:ea typeface="Calibri" panose="020F0502020204030204" pitchFamily="34" charset="0"/>
                <a:cs typeface="Calibri" panose="020F0502020204030204" pitchFamily="34" charset="0"/>
              </a:rPr>
              <a:t>APIs (e.g., </a:t>
            </a:r>
            <a:r>
              <a:rPr lang="en-US" sz="2000" dirty="0" err="1">
                <a:latin typeface="Calibri" panose="020F0502020204030204" pitchFamily="34" charset="0"/>
                <a:ea typeface="Calibri" panose="020F0502020204030204" pitchFamily="34" charset="0"/>
                <a:cs typeface="Calibri" panose="020F0502020204030204" pitchFamily="34" charset="0"/>
              </a:rPr>
              <a:t>OpenWeather</a:t>
            </a:r>
            <a:r>
              <a:rPr lang="en-US" sz="2000" dirty="0">
                <a:latin typeface="Calibri" panose="020F0502020204030204" pitchFamily="34" charset="0"/>
                <a:ea typeface="Calibri" panose="020F0502020204030204" pitchFamily="34" charset="0"/>
                <a:cs typeface="Calibri" panose="020F0502020204030204" pitchFamily="34" charset="0"/>
              </a:rPr>
              <a:t>) are active and accessible. </a:t>
            </a:r>
          </a:p>
          <a:p>
            <a:pPr marL="0" lvl="0" indent="0" eaLnBrk="0" fontAlgn="base" hangingPunct="0">
              <a:spcBef>
                <a:spcPct val="0"/>
              </a:spcBef>
              <a:spcAft>
                <a:spcPct val="0"/>
              </a:spcAft>
              <a:buClrTx/>
              <a:buSzTx/>
              <a:buNone/>
            </a:pPr>
            <a:r>
              <a:rPr lang="en-US" sz="2000" dirty="0">
                <a:latin typeface="Calibri" panose="020F0502020204030204" pitchFamily="34" charset="0"/>
                <a:ea typeface="Calibri" panose="020F0502020204030204" pitchFamily="34" charset="0"/>
                <a:cs typeface="Calibri" panose="020F0502020204030204" pitchFamily="34" charset="0"/>
              </a:rPr>
              <a:t>•The dataset is clean and representative of real-world scenarios.</a:t>
            </a:r>
          </a:p>
          <a:p>
            <a:pPr marL="0" lvl="0" indent="0" eaLnBrk="0" fontAlgn="base" hangingPunct="0">
              <a:spcBef>
                <a:spcPct val="0"/>
              </a:spcBef>
              <a:spcAft>
                <a:spcPct val="0"/>
              </a:spcAft>
              <a:buClrTx/>
              <a:buSzTx/>
              <a:buNone/>
            </a:pPr>
            <a:r>
              <a:rPr lang="en-US" sz="2000" dirty="0">
                <a:latin typeface="Calibri" panose="020F0502020204030204" pitchFamily="34" charset="0"/>
                <a:ea typeface="Calibri" panose="020F0502020204030204" pitchFamily="34" charset="0"/>
                <a:cs typeface="Calibri" panose="020F0502020204030204" pitchFamily="34" charset="0"/>
              </a:rPr>
              <a:t>• Necessary permissions to access satellite data are in place.</a:t>
            </a:r>
          </a:p>
          <a:p>
            <a:pPr marL="0" indent="0" eaLnBrk="0" fontAlgn="base" hangingPunct="0">
              <a:spcBef>
                <a:spcPct val="0"/>
              </a:spcBef>
              <a:spcAft>
                <a:spcPct val="0"/>
              </a:spcAft>
              <a:buClrTx/>
              <a:buSzTx/>
              <a:buNone/>
            </a:pPr>
            <a:r>
              <a:rPr lang="en-IN" sz="2000" dirty="0">
                <a:latin typeface="Calibri" panose="020F0502020204030204" pitchFamily="34" charset="0"/>
                <a:ea typeface="Calibri" panose="020F0502020204030204" pitchFamily="34" charset="0"/>
                <a:cs typeface="Calibri" panose="020F0502020204030204" pitchFamily="34" charset="0"/>
              </a:rPr>
              <a:t> </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51735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27C65-636A-F64D-19AC-6A41896D608C}"/>
              </a:ext>
            </a:extLst>
          </p:cNvPr>
          <p:cNvSpPr>
            <a:spLocks noGrp="1"/>
          </p:cNvSpPr>
          <p:nvPr>
            <p:ph type="title"/>
          </p:nvPr>
        </p:nvSpPr>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Modules</a:t>
            </a:r>
          </a:p>
        </p:txBody>
      </p:sp>
      <p:sp>
        <p:nvSpPr>
          <p:cNvPr id="4" name="Rectangle 1">
            <a:extLst>
              <a:ext uri="{FF2B5EF4-FFF2-40B4-BE49-F238E27FC236}">
                <a16:creationId xmlns:a16="http://schemas.microsoft.com/office/drawing/2014/main" id="{FCEA5F12-44AB-50B7-45C8-962CE182833D}"/>
              </a:ext>
            </a:extLst>
          </p:cNvPr>
          <p:cNvSpPr>
            <a:spLocks noGrp="1" noChangeArrowheads="1"/>
          </p:cNvSpPr>
          <p:nvPr>
            <p:ph type="body" idx="1"/>
          </p:nvPr>
        </p:nvSpPr>
        <p:spPr bwMode="auto">
          <a:xfrm>
            <a:off x="812800" y="606115"/>
            <a:ext cx="10913626"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ClrTx/>
              <a:buSzTx/>
              <a:buFontTx/>
              <a:buChar char="•"/>
            </a:pPr>
            <a:endParaRPr lang="en-US" alt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lvl="0" indent="0" eaLnBrk="0" fontAlgn="base" hangingPunct="0">
              <a:spcBef>
                <a:spcPct val="0"/>
              </a:spcBef>
              <a:spcAft>
                <a:spcPct val="0"/>
              </a:spcAft>
              <a:buClrTx/>
              <a:buSzTx/>
              <a:buFontTx/>
              <a:buChar char="•"/>
            </a:pPr>
            <a:r>
              <a:rPr lang="en-US" alt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Data Collection Module: </a:t>
            </a:r>
            <a:r>
              <a:rPr lang="en-US" alt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Fetches real-time weather data (rainfall, temperature, humidity) via APIs (</a:t>
            </a:r>
            <a:r>
              <a:rPr lang="en-US" altLang="en-US" sz="2000" dirty="0" err="1">
                <a:solidFill>
                  <a:schemeClr val="tx1"/>
                </a:solidFill>
                <a:latin typeface="Calibri" panose="020F0502020204030204" pitchFamily="34" charset="0"/>
                <a:ea typeface="Calibri" panose="020F0502020204030204" pitchFamily="34" charset="0"/>
                <a:cs typeface="Calibri" panose="020F0502020204030204" pitchFamily="34" charset="0"/>
              </a:rPr>
              <a:t>OpenWeather</a:t>
            </a:r>
            <a:r>
              <a:rPr lang="en-US" alt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 NASA).</a:t>
            </a:r>
          </a:p>
          <a:p>
            <a:pPr marL="0" lvl="0" indent="0" eaLnBrk="0" fontAlgn="base" hangingPunct="0">
              <a:spcBef>
                <a:spcPct val="0"/>
              </a:spcBef>
              <a:spcAft>
                <a:spcPct val="0"/>
              </a:spcAft>
              <a:buClrTx/>
              <a:buSzTx/>
              <a:buFontTx/>
              <a:buChar char="•"/>
            </a:pPr>
            <a:r>
              <a:rPr lang="en-US" alt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Retrieves historical flood records and satellite imagery.</a:t>
            </a:r>
          </a:p>
          <a:p>
            <a:pPr marL="0" lvl="0" indent="0" eaLnBrk="0" fontAlgn="base" hangingPunct="0">
              <a:spcBef>
                <a:spcPct val="0"/>
              </a:spcBef>
              <a:spcAft>
                <a:spcPct val="0"/>
              </a:spcAft>
              <a:buClrTx/>
              <a:buSzTx/>
              <a:buFontTx/>
              <a:buChar char="•"/>
            </a:pPr>
            <a:endParaRPr lang="en-US" altLang="en-US"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lvl="0" indent="0" eaLnBrk="0" fontAlgn="base" hangingPunct="0">
              <a:spcBef>
                <a:spcPct val="0"/>
              </a:spcBef>
              <a:spcAft>
                <a:spcPct val="0"/>
              </a:spcAft>
              <a:buClrTx/>
              <a:buSzTx/>
              <a:buFontTx/>
              <a:buChar char="•"/>
            </a:pPr>
            <a:r>
              <a:rPr lang="en-US" alt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Data Preprocessing Module:  </a:t>
            </a:r>
            <a:r>
              <a:rPr lang="en-US" alt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Cleans &amp; normalizes data, handles missing values.</a:t>
            </a:r>
          </a:p>
          <a:p>
            <a:pPr marL="0" lvl="0" indent="0" eaLnBrk="0" fontAlgn="base" hangingPunct="0">
              <a:spcBef>
                <a:spcPct val="0"/>
              </a:spcBef>
              <a:spcAft>
                <a:spcPct val="0"/>
              </a:spcAft>
              <a:buClrTx/>
              <a:buSzTx/>
              <a:buFontTx/>
              <a:buChar char="•"/>
            </a:pPr>
            <a:r>
              <a:rPr lang="en-US" alt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Balances imbalanced datasets using SMOTE/other techniques.</a:t>
            </a:r>
          </a:p>
          <a:p>
            <a:pPr marL="0" lvl="0" indent="0" eaLnBrk="0" fontAlgn="base" hangingPunct="0">
              <a:spcBef>
                <a:spcPct val="0"/>
              </a:spcBef>
              <a:spcAft>
                <a:spcPct val="0"/>
              </a:spcAft>
              <a:buClrTx/>
              <a:buSzTx/>
              <a:buFontTx/>
              <a:buChar char="•"/>
            </a:pPr>
            <a:r>
              <a:rPr lang="en-US" alt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Extracts meaningful features for model input.</a:t>
            </a:r>
          </a:p>
          <a:p>
            <a:pPr marL="0" lvl="0" indent="0" eaLnBrk="0" fontAlgn="base" hangingPunct="0">
              <a:spcBef>
                <a:spcPct val="0"/>
              </a:spcBef>
              <a:spcAft>
                <a:spcPct val="0"/>
              </a:spcAft>
              <a:buClrTx/>
              <a:buSzTx/>
              <a:buFontTx/>
              <a:buChar char="•"/>
            </a:pPr>
            <a:endParaRPr lang="en-US" altLang="en-US"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lvl="0" indent="0" eaLnBrk="0" fontAlgn="base" hangingPunct="0">
              <a:spcBef>
                <a:spcPct val="0"/>
              </a:spcBef>
              <a:spcAft>
                <a:spcPct val="0"/>
              </a:spcAft>
              <a:buClrTx/>
              <a:buSzTx/>
              <a:buFontTx/>
              <a:buChar char="•"/>
            </a:pPr>
            <a:r>
              <a:rPr lang="en-US" alt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Model Training Module: </a:t>
            </a:r>
            <a:r>
              <a:rPr lang="en-US" alt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Implements ML algorithms: </a:t>
            </a:r>
            <a:r>
              <a:rPr lang="en-US" altLang="en-US" sz="2000" dirty="0" err="1">
                <a:solidFill>
                  <a:schemeClr val="tx1"/>
                </a:solidFill>
                <a:latin typeface="Calibri" panose="020F0502020204030204" pitchFamily="34" charset="0"/>
                <a:ea typeface="Calibri" panose="020F0502020204030204" pitchFamily="34" charset="0"/>
                <a:cs typeface="Calibri" panose="020F0502020204030204" pitchFamily="34" charset="0"/>
              </a:rPr>
              <a:t>XGBoost</a:t>
            </a:r>
            <a:r>
              <a:rPr lang="en-US" alt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 (supervised) &amp; K-Means (unsupervised).</a:t>
            </a:r>
          </a:p>
          <a:p>
            <a:pPr marL="0" lvl="0" indent="0" eaLnBrk="0" fontAlgn="base" hangingPunct="0">
              <a:spcBef>
                <a:spcPct val="0"/>
              </a:spcBef>
              <a:spcAft>
                <a:spcPct val="0"/>
              </a:spcAft>
              <a:buClrTx/>
              <a:buSzTx/>
              <a:buFontTx/>
              <a:buChar char="•"/>
            </a:pPr>
            <a:r>
              <a:rPr lang="en-US" alt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Performs hyperparameter tuning &amp; cross-validation.</a:t>
            </a:r>
          </a:p>
          <a:p>
            <a:pPr marL="0" lvl="0" indent="0" eaLnBrk="0" fontAlgn="base" hangingPunct="0">
              <a:spcBef>
                <a:spcPct val="0"/>
              </a:spcBef>
              <a:spcAft>
                <a:spcPct val="0"/>
              </a:spcAft>
              <a:buClrTx/>
              <a:buSzTx/>
              <a:buFontTx/>
              <a:buChar char="•"/>
            </a:pPr>
            <a:endParaRPr lang="en-US" altLang="en-US"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lvl="0" indent="0" eaLnBrk="0" fontAlgn="base" hangingPunct="0">
              <a:spcBef>
                <a:spcPct val="0"/>
              </a:spcBef>
              <a:spcAft>
                <a:spcPct val="0"/>
              </a:spcAft>
              <a:buClrTx/>
              <a:buSzTx/>
              <a:buFontTx/>
              <a:buChar char="•"/>
            </a:pPr>
            <a:r>
              <a:rPr lang="en-US" alt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Flood Prediction &amp; Risk Assessment Module: </a:t>
            </a:r>
            <a:r>
              <a:rPr lang="en-US" alt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Analyzes real-time inputs and predicts flood likelihood.</a:t>
            </a:r>
          </a:p>
          <a:p>
            <a:pPr marL="0" lvl="0" indent="0" eaLnBrk="0" fontAlgn="base" hangingPunct="0">
              <a:spcBef>
                <a:spcPct val="0"/>
              </a:spcBef>
              <a:spcAft>
                <a:spcPct val="0"/>
              </a:spcAft>
              <a:buClrTx/>
              <a:buSzTx/>
              <a:buFontTx/>
              <a:buChar char="•"/>
            </a:pPr>
            <a:r>
              <a:rPr lang="en-US" alt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Classifies areas into Low / Medium / High risk.</a:t>
            </a:r>
          </a:p>
          <a:p>
            <a:pPr marL="0" lvl="0" indent="0" eaLnBrk="0" fontAlgn="base" hangingPunct="0">
              <a:spcBef>
                <a:spcPct val="0"/>
              </a:spcBef>
              <a:spcAft>
                <a:spcPct val="0"/>
              </a:spcAft>
              <a:buClrTx/>
              <a:buSzTx/>
              <a:buFontTx/>
              <a:buChar char="•"/>
            </a:pPr>
            <a:r>
              <a:rPr lang="en-US" alt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Provides confidence scores for predictions.</a:t>
            </a:r>
          </a:p>
          <a:p>
            <a:pPr marL="0" lvl="0" indent="0" eaLnBrk="0" fontAlgn="base" hangingPunct="0">
              <a:spcBef>
                <a:spcPct val="0"/>
              </a:spcBef>
              <a:spcAft>
                <a:spcPct val="0"/>
              </a:spcAft>
              <a:buClrTx/>
              <a:buSzTx/>
              <a:buFontTx/>
              <a:buChar char="•"/>
            </a:pPr>
            <a:endPar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963140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A89C6-2682-EA14-759C-0932FE30F443}"/>
              </a:ext>
            </a:extLst>
          </p:cNvPr>
          <p:cNvSpPr>
            <a:spLocks noGrp="1"/>
          </p:cNvSpPr>
          <p:nvPr>
            <p:ph type="title"/>
          </p:nvPr>
        </p:nvSpPr>
        <p:spPr>
          <a:xfrm>
            <a:off x="812800" y="637308"/>
            <a:ext cx="10668000" cy="124829"/>
          </a:xfrm>
        </p:spPr>
        <p:txBody>
          <a:bodyPr/>
          <a:lstStyle/>
          <a:p>
            <a:r>
              <a:rPr lang="en-US" dirty="0"/>
              <a:t>Conclusion</a:t>
            </a:r>
            <a:br>
              <a:rPr lang="en-US" dirty="0"/>
            </a:br>
            <a:endParaRPr lang="en-IN" dirty="0"/>
          </a:p>
        </p:txBody>
      </p:sp>
      <p:sp>
        <p:nvSpPr>
          <p:cNvPr id="3" name="Text Placeholder 2">
            <a:extLst>
              <a:ext uri="{FF2B5EF4-FFF2-40B4-BE49-F238E27FC236}">
                <a16:creationId xmlns:a16="http://schemas.microsoft.com/office/drawing/2014/main" id="{117AC89B-8CD5-DA1D-F25C-1D1D3421C94C}"/>
              </a:ext>
            </a:extLst>
          </p:cNvPr>
          <p:cNvSpPr>
            <a:spLocks noGrp="1"/>
          </p:cNvSpPr>
          <p:nvPr>
            <p:ph type="body" idx="1"/>
          </p:nvPr>
        </p:nvSpPr>
        <p:spPr/>
        <p:txBody>
          <a:bodyPr/>
          <a:lstStyle/>
          <a:p>
            <a:pPr marL="76200" indent="0">
              <a:buNone/>
            </a:pPr>
            <a:r>
              <a:rPr lang="en-US" b="1" dirty="0"/>
              <a:t>Summary and Impact</a:t>
            </a:r>
            <a:endParaRPr lang="en-US" dirty="0"/>
          </a:p>
          <a:p>
            <a:r>
              <a:rPr lang="en-US" dirty="0"/>
              <a:t>We successfully integrated satellite, tidal, and weather data to create a comprehensive dataset for flood analysis.</a:t>
            </a:r>
          </a:p>
          <a:p>
            <a:r>
              <a:rPr lang="en-US" dirty="0"/>
              <a:t>Through data cleaning and feature engineering, we prepared the data and defined a clear target for prediction.</a:t>
            </a:r>
          </a:p>
          <a:p>
            <a:r>
              <a:rPr lang="en-US" dirty="0"/>
              <a:t>Exploratory analysis has already revealed strong indicators of flood risk, like high humidity.</a:t>
            </a:r>
          </a:p>
          <a:p>
            <a:r>
              <a:rPr lang="en-US" dirty="0"/>
              <a:t>This project lays a solid foundation for building a highly effective, data-driven flood prediction model with the potential to save lives and reduce damages.</a:t>
            </a:r>
          </a:p>
          <a:p>
            <a:endParaRPr lang="en-IN" dirty="0"/>
          </a:p>
        </p:txBody>
      </p:sp>
    </p:spTree>
    <p:extLst>
      <p:ext uri="{BB962C8B-B14F-4D97-AF65-F5344CB8AC3E}">
        <p14:creationId xmlns:p14="http://schemas.microsoft.com/office/powerpoint/2010/main" val="2769929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a:t>
            </a:r>
          </a:p>
          <a:p>
            <a:pPr marL="342900" indent="-190500" algn="just">
              <a:spcBef>
                <a:spcPts val="0"/>
              </a:spcBef>
              <a:buSzPct val="100000"/>
              <a:buNone/>
            </a:pPr>
            <a:r>
              <a:rPr lang="en-US" dirty="0">
                <a:latin typeface="Cambria" panose="02040503050406030204" pitchFamily="18" charset="0"/>
                <a:ea typeface="Cambria" panose="02040503050406030204" pitchFamily="18" charset="0"/>
              </a:rPr>
              <a:t>https://github.com/harshitha101831/Batch-number_131/upload</a:t>
            </a:r>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8" name="Picture 7" descr="A chart with blue squares&#10;&#10;AI-generated content may be incorrect.">
            <a:extLst>
              <a:ext uri="{FF2B5EF4-FFF2-40B4-BE49-F238E27FC236}">
                <a16:creationId xmlns:a16="http://schemas.microsoft.com/office/drawing/2014/main" id="{4D3F65F4-6064-1C31-A7E3-870CF1AF250F}"/>
              </a:ext>
            </a:extLst>
          </p:cNvPr>
          <p:cNvPicPr>
            <a:picLocks noChangeAspect="1"/>
          </p:cNvPicPr>
          <p:nvPr/>
        </p:nvPicPr>
        <p:blipFill>
          <a:blip r:embed="rId3"/>
          <a:stretch>
            <a:fillRect/>
          </a:stretch>
        </p:blipFill>
        <p:spPr>
          <a:xfrm>
            <a:off x="933930" y="1142995"/>
            <a:ext cx="8534536" cy="5119315"/>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dirty="0">
              <a:latin typeface="Cambria" panose="02040503050406030204" pitchFamily="18" charset="0"/>
              <a:ea typeface="Cambria" panose="02040503050406030204" pitchFamily="18" charset="0"/>
            </a:endParaRPr>
          </a:p>
          <a:p>
            <a:pPr marL="609600" lvl="1" indent="0">
              <a:spcBef>
                <a:spcPts val="0"/>
              </a:spcBef>
              <a:buNone/>
            </a:pPr>
            <a:r>
              <a:rPr lang="en-US" dirty="0"/>
              <a:t>. </a:t>
            </a: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
        <p:nvSpPr>
          <p:cNvPr id="3" name="Rectangle 2">
            <a:extLst>
              <a:ext uri="{FF2B5EF4-FFF2-40B4-BE49-F238E27FC236}">
                <a16:creationId xmlns:a16="http://schemas.microsoft.com/office/drawing/2014/main" id="{92D53641-355D-B74B-95C3-683232921A9F}"/>
              </a:ext>
            </a:extLst>
          </p:cNvPr>
          <p:cNvSpPr>
            <a:spLocks noChangeArrowheads="1"/>
          </p:cNvSpPr>
          <p:nvPr/>
        </p:nvSpPr>
        <p:spPr bwMode="auto">
          <a:xfrm>
            <a:off x="711200" y="1181362"/>
            <a:ext cx="11197389"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a:t>
            </a:r>
            <a:r>
              <a:rPr lang="en-IN" sz="2000" dirty="0">
                <a:latin typeface="Calibri" panose="020F0502020204030204" pitchFamily="34" charset="0"/>
                <a:ea typeface="Calibri" panose="020F0502020204030204" pitchFamily="34" charset="0"/>
                <a:cs typeface="Calibri" panose="020F0502020204030204" pitchFamily="34" charset="0"/>
              </a:rPr>
              <a:t>[1] M. Thomas et al., "A Framework to Assess Remote Sensing Algorithms for Satellite-Based Flood Index Insurance," in IEEE Journal of Selected Topics in Applied Earth Observations and Remote Sensing, vol. 16, pp. 2589-2604, 2023, </a:t>
            </a:r>
            <a:r>
              <a:rPr lang="en-IN" sz="2000" dirty="0" err="1">
                <a:latin typeface="Calibri" panose="020F0502020204030204" pitchFamily="34" charset="0"/>
                <a:ea typeface="Calibri" panose="020F0502020204030204" pitchFamily="34" charset="0"/>
                <a:cs typeface="Calibri" panose="020F0502020204030204" pitchFamily="34" charset="0"/>
              </a:rPr>
              <a:t>doi</a:t>
            </a:r>
            <a:r>
              <a:rPr lang="en-IN" sz="2000" dirty="0">
                <a:latin typeface="Calibri" panose="020F0502020204030204" pitchFamily="34" charset="0"/>
                <a:ea typeface="Calibri" panose="020F0502020204030204" pitchFamily="34" charset="0"/>
                <a:cs typeface="Calibri" panose="020F0502020204030204" pitchFamily="34" charset="0"/>
              </a:rPr>
              <a:t>: 10.1109/JSTARS.2023.3244098.</a:t>
            </a:r>
          </a:p>
          <a:p>
            <a:endParaRPr lang="en-IN" sz="2000" dirty="0">
              <a:latin typeface="Calibri" panose="020F0502020204030204" pitchFamily="34" charset="0"/>
              <a:ea typeface="Calibri" panose="020F0502020204030204" pitchFamily="34" charset="0"/>
              <a:cs typeface="Calibri" panose="020F0502020204030204" pitchFamily="34" charset="0"/>
            </a:endParaRPr>
          </a:p>
          <a:p>
            <a:r>
              <a:rPr lang="en-IN" sz="2000" dirty="0">
                <a:latin typeface="Calibri" panose="020F0502020204030204" pitchFamily="34" charset="0"/>
                <a:ea typeface="Calibri" panose="020F0502020204030204" pitchFamily="34" charset="0"/>
                <a:cs typeface="Calibri" panose="020F0502020204030204" pitchFamily="34" charset="0"/>
              </a:rPr>
              <a:t>[2] S. H. Mahir et al., "Advanced Hydro-Informatic </a:t>
            </a:r>
            <a:r>
              <a:rPr lang="en-IN" sz="2000" dirty="0" err="1">
                <a:latin typeface="Calibri" panose="020F0502020204030204" pitchFamily="34" charset="0"/>
                <a:ea typeface="Calibri" panose="020F0502020204030204" pitchFamily="34" charset="0"/>
                <a:cs typeface="Calibri" panose="020F0502020204030204" pitchFamily="34" charset="0"/>
              </a:rPr>
              <a:t>Modeling</a:t>
            </a:r>
            <a:r>
              <a:rPr lang="en-IN" sz="2000" dirty="0">
                <a:latin typeface="Calibri" panose="020F0502020204030204" pitchFamily="34" charset="0"/>
                <a:ea typeface="Calibri" panose="020F0502020204030204" pitchFamily="34" charset="0"/>
                <a:cs typeface="Calibri" panose="020F0502020204030204" pitchFamily="34" charset="0"/>
              </a:rPr>
              <a:t> Through Feedforward Neural Network, Federated Learning, and Explainable AI for Enhancing Flood Prediction," in IEEE Open Journal of the Computer Society, vol. 6, pp. 726-738, 2025, </a:t>
            </a:r>
            <a:r>
              <a:rPr lang="en-IN" sz="2000" dirty="0" err="1">
                <a:latin typeface="Calibri" panose="020F0502020204030204" pitchFamily="34" charset="0"/>
                <a:ea typeface="Calibri" panose="020F0502020204030204" pitchFamily="34" charset="0"/>
                <a:cs typeface="Calibri" panose="020F0502020204030204" pitchFamily="34" charset="0"/>
              </a:rPr>
              <a:t>doi</a:t>
            </a:r>
            <a:r>
              <a:rPr lang="en-IN" sz="2000" dirty="0">
                <a:latin typeface="Calibri" panose="020F0502020204030204" pitchFamily="34" charset="0"/>
                <a:ea typeface="Calibri" panose="020F0502020204030204" pitchFamily="34" charset="0"/>
                <a:cs typeface="Calibri" panose="020F0502020204030204" pitchFamily="34" charset="0"/>
              </a:rPr>
              <a:t>: 10.1109/OJCS.2025.3556424.</a:t>
            </a:r>
          </a:p>
          <a:p>
            <a:endParaRPr lang="en-IN" sz="2000" dirty="0">
              <a:latin typeface="Calibri" panose="020F0502020204030204" pitchFamily="34" charset="0"/>
              <a:ea typeface="Calibri" panose="020F0502020204030204" pitchFamily="34" charset="0"/>
              <a:cs typeface="Calibri" panose="020F0502020204030204" pitchFamily="34" charset="0"/>
            </a:endParaRPr>
          </a:p>
          <a:p>
            <a:r>
              <a:rPr lang="en-IN" sz="2000" dirty="0">
                <a:latin typeface="Calibri" panose="020F0502020204030204" pitchFamily="34" charset="0"/>
                <a:ea typeface="Calibri" panose="020F0502020204030204" pitchFamily="34" charset="0"/>
                <a:cs typeface="Calibri" panose="020F0502020204030204" pitchFamily="34" charset="0"/>
              </a:rPr>
              <a:t>[3]Y. Liu, L. Wang, S. Du, L. Zhao and X. Liu, "Flood Forecasting Method Based on Improved VMD-FOS-QR-RBL," in IEEE Access, vol. 11, pp. 4207-4218, 2023, </a:t>
            </a:r>
            <a:r>
              <a:rPr lang="en-IN" sz="2000" dirty="0" err="1">
                <a:latin typeface="Calibri" panose="020F0502020204030204" pitchFamily="34" charset="0"/>
                <a:ea typeface="Calibri" panose="020F0502020204030204" pitchFamily="34" charset="0"/>
                <a:cs typeface="Calibri" panose="020F0502020204030204" pitchFamily="34" charset="0"/>
              </a:rPr>
              <a:t>doi</a:t>
            </a:r>
            <a:r>
              <a:rPr lang="en-IN" sz="2000" dirty="0">
                <a:latin typeface="Calibri" panose="020F0502020204030204" pitchFamily="34" charset="0"/>
                <a:ea typeface="Calibri" panose="020F0502020204030204" pitchFamily="34" charset="0"/>
                <a:cs typeface="Calibri" panose="020F0502020204030204" pitchFamily="34" charset="0"/>
              </a:rPr>
              <a:t>: 10.1109/ACCESS.2022.3232405.</a:t>
            </a:r>
          </a:p>
          <a:p>
            <a:endParaRPr lang="en-IN" sz="2000" dirty="0">
              <a:latin typeface="Calibri" panose="020F0502020204030204" pitchFamily="34" charset="0"/>
              <a:ea typeface="Calibri" panose="020F0502020204030204" pitchFamily="34" charset="0"/>
              <a:cs typeface="Calibri" panose="020F0502020204030204" pitchFamily="34" charset="0"/>
            </a:endParaRPr>
          </a:p>
          <a:p>
            <a:r>
              <a:rPr lang="en-IN" sz="2000" dirty="0">
                <a:latin typeface="Calibri" panose="020F0502020204030204" pitchFamily="34" charset="0"/>
                <a:ea typeface="Calibri" panose="020F0502020204030204" pitchFamily="34" charset="0"/>
                <a:cs typeface="Calibri" panose="020F0502020204030204" pitchFamily="34" charset="0"/>
              </a:rPr>
              <a:t>[4] J. Du </a:t>
            </a:r>
            <a:r>
              <a:rPr lang="en-IN" sz="2000" i="1" dirty="0">
                <a:latin typeface="Calibri" panose="020F0502020204030204" pitchFamily="34" charset="0"/>
                <a:ea typeface="Calibri" panose="020F0502020204030204" pitchFamily="34" charset="0"/>
                <a:cs typeface="Calibri" panose="020F0502020204030204" pitchFamily="34" charset="0"/>
              </a:rPr>
              <a:t>et al</a:t>
            </a:r>
            <a:r>
              <a:rPr lang="en-IN" sz="2000" dirty="0">
                <a:latin typeface="Calibri" panose="020F0502020204030204" pitchFamily="34" charset="0"/>
                <a:ea typeface="Calibri" panose="020F0502020204030204" pitchFamily="34" charset="0"/>
                <a:cs typeface="Calibri" panose="020F0502020204030204" pitchFamily="34" charset="0"/>
              </a:rPr>
              <a:t>., "Satellite Flood Assessment and Forecasts from SMAP and Landsat," </a:t>
            </a:r>
            <a:r>
              <a:rPr lang="en-IN" sz="2000" i="1" dirty="0">
                <a:latin typeface="Calibri" panose="020F0502020204030204" pitchFamily="34" charset="0"/>
                <a:ea typeface="Calibri" panose="020F0502020204030204" pitchFamily="34" charset="0"/>
                <a:cs typeface="Calibri" panose="020F0502020204030204" pitchFamily="34" charset="0"/>
              </a:rPr>
              <a:t>IGARSS 2020 - 2020 IEEE International Geoscience and Remote Sensing Symposium</a:t>
            </a:r>
            <a:r>
              <a:rPr lang="en-IN" sz="2000" dirty="0">
                <a:latin typeface="Calibri" panose="020F0502020204030204" pitchFamily="34" charset="0"/>
                <a:ea typeface="Calibri" panose="020F0502020204030204" pitchFamily="34" charset="0"/>
                <a:cs typeface="Calibri" panose="020F0502020204030204" pitchFamily="34" charset="0"/>
              </a:rPr>
              <a:t>, Waikoloa, HI, USA, 2020, pp. 3334-3337, </a:t>
            </a:r>
            <a:r>
              <a:rPr lang="en-IN" sz="2000" dirty="0" err="1">
                <a:latin typeface="Calibri" panose="020F0502020204030204" pitchFamily="34" charset="0"/>
                <a:ea typeface="Calibri" panose="020F0502020204030204" pitchFamily="34" charset="0"/>
                <a:cs typeface="Calibri" panose="020F0502020204030204" pitchFamily="34" charset="0"/>
              </a:rPr>
              <a:t>doi</a:t>
            </a:r>
            <a:r>
              <a:rPr lang="en-IN" sz="2000" dirty="0">
                <a:latin typeface="Calibri" panose="020F0502020204030204" pitchFamily="34" charset="0"/>
                <a:ea typeface="Calibri" panose="020F0502020204030204" pitchFamily="34" charset="0"/>
                <a:cs typeface="Calibri" panose="020F0502020204030204" pitchFamily="34" charset="0"/>
              </a:rPr>
              <a:t>: 10.1109/IGARSS39084.2020.9323552</a:t>
            </a:r>
          </a:p>
          <a:p>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5ED54-6D69-E513-CC19-A8727C927043}"/>
              </a:ext>
            </a:extLst>
          </p:cNvPr>
          <p:cNvSpPr>
            <a:spLocks noGrp="1"/>
          </p:cNvSpPr>
          <p:nvPr>
            <p:ph type="title"/>
          </p:nvPr>
        </p:nvSpPr>
        <p:spPr/>
        <p:txBody>
          <a:bodyPr/>
          <a:lstStyle/>
          <a:p>
            <a:endParaRPr lang="en-IN"/>
          </a:p>
        </p:txBody>
      </p:sp>
      <p:sp>
        <p:nvSpPr>
          <p:cNvPr id="4" name="Rectangle 1">
            <a:extLst>
              <a:ext uri="{FF2B5EF4-FFF2-40B4-BE49-F238E27FC236}">
                <a16:creationId xmlns:a16="http://schemas.microsoft.com/office/drawing/2014/main" id="{F49994DA-DA70-31C7-B684-94BC976929F8}"/>
              </a:ext>
            </a:extLst>
          </p:cNvPr>
          <p:cNvSpPr>
            <a:spLocks noGrp="1" noChangeArrowheads="1"/>
          </p:cNvSpPr>
          <p:nvPr>
            <p:ph type="body" idx="1"/>
          </p:nvPr>
        </p:nvSpPr>
        <p:spPr bwMode="auto">
          <a:xfrm>
            <a:off x="762000" y="1192154"/>
            <a:ext cx="10668000" cy="4721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6200" indent="0">
              <a:buNone/>
            </a:pPr>
            <a:r>
              <a:rPr lang="en-IN" sz="2000" dirty="0">
                <a:latin typeface="Calibri" panose="020F0502020204030204" pitchFamily="34" charset="0"/>
                <a:ea typeface="Calibri" panose="020F0502020204030204" pitchFamily="34" charset="0"/>
                <a:cs typeface="Calibri" panose="020F0502020204030204" pitchFamily="34" charset="0"/>
              </a:rPr>
              <a:t>[5] Y. </a:t>
            </a:r>
            <a:r>
              <a:rPr lang="en-IN" sz="2000" dirty="0" err="1">
                <a:latin typeface="Calibri" panose="020F0502020204030204" pitchFamily="34" charset="0"/>
                <a:ea typeface="Calibri" panose="020F0502020204030204" pitchFamily="34" charset="0"/>
                <a:cs typeface="Calibri" panose="020F0502020204030204" pitchFamily="34" charset="0"/>
              </a:rPr>
              <a:t>Djenouri</a:t>
            </a:r>
            <a:r>
              <a:rPr lang="en-IN" sz="2000" dirty="0">
                <a:latin typeface="Calibri" panose="020F0502020204030204" pitchFamily="34" charset="0"/>
                <a:ea typeface="Calibri" panose="020F0502020204030204" pitchFamily="34" charset="0"/>
                <a:cs typeface="Calibri" panose="020F0502020204030204" pitchFamily="34" charset="0"/>
              </a:rPr>
              <a:t>, M. </a:t>
            </a:r>
            <a:r>
              <a:rPr lang="en-IN" sz="2000" dirty="0" err="1">
                <a:latin typeface="Calibri" panose="020F0502020204030204" pitchFamily="34" charset="0"/>
                <a:ea typeface="Calibri" panose="020F0502020204030204" pitchFamily="34" charset="0"/>
                <a:cs typeface="Calibri" panose="020F0502020204030204" pitchFamily="34" charset="0"/>
              </a:rPr>
              <a:t>Godziszewski</a:t>
            </a:r>
            <a:r>
              <a:rPr lang="en-IN" sz="2000" dirty="0">
                <a:latin typeface="Calibri" panose="020F0502020204030204" pitchFamily="34" charset="0"/>
                <a:ea typeface="Calibri" panose="020F0502020204030204" pitchFamily="34" charset="0"/>
                <a:cs typeface="Calibri" panose="020F0502020204030204" pitchFamily="34" charset="0"/>
              </a:rPr>
              <a:t>, F. Andrade, G. Srivastava, A. N. Belbachir and A. Murano, "Game-Theoretic Consensus Deep Learning for Adaptive Flood Prediction in Digital Twin Environments," in IEEE Journal of Selected Topics in Applied Earth Observations and Remote Sensing, </a:t>
            </a:r>
            <a:r>
              <a:rPr lang="en-IN" sz="2000" dirty="0" err="1">
                <a:latin typeface="Calibri" panose="020F0502020204030204" pitchFamily="34" charset="0"/>
                <a:ea typeface="Calibri" panose="020F0502020204030204" pitchFamily="34" charset="0"/>
                <a:cs typeface="Calibri" panose="020F0502020204030204" pitchFamily="34" charset="0"/>
              </a:rPr>
              <a:t>doi</a:t>
            </a:r>
            <a:r>
              <a:rPr lang="en-IN" sz="2000" dirty="0">
                <a:latin typeface="Calibri" panose="020F0502020204030204" pitchFamily="34" charset="0"/>
                <a:ea typeface="Calibri" panose="020F0502020204030204" pitchFamily="34" charset="0"/>
                <a:cs typeface="Calibri" panose="020F0502020204030204" pitchFamily="34" charset="0"/>
              </a:rPr>
              <a:t>: 10.1109/JSTARS.2025.3596008.</a:t>
            </a:r>
          </a:p>
          <a:p>
            <a:pPr marL="0" indent="0" eaLnBrk="0" fontAlgn="base" hangingPunct="0">
              <a:spcBef>
                <a:spcPct val="0"/>
              </a:spcBef>
              <a:spcAft>
                <a:spcPct val="0"/>
              </a:spcAft>
              <a:buClrTx/>
              <a:buSzTx/>
              <a:buNone/>
            </a:pP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IN" sz="2000" dirty="0">
                <a:latin typeface="Calibri" panose="020F0502020204030204" pitchFamily="34" charset="0"/>
                <a:ea typeface="Calibri" panose="020F0502020204030204" pitchFamily="34" charset="0"/>
                <a:cs typeface="Calibri" panose="020F0502020204030204" pitchFamily="34" charset="0"/>
              </a:rPr>
              <a:t>[6]N. Akhtar et al., "Hierarchical Coloured Petri-Net Based Multi-Agent System for Flood Monitoring, Prediction, and Rescue (FMPR)," in IEEE Access, vol. 7, pp. 180544-180557, 2019, </a:t>
            </a:r>
            <a:r>
              <a:rPr lang="en-IN" sz="2000" dirty="0" err="1">
                <a:latin typeface="Calibri" panose="020F0502020204030204" pitchFamily="34" charset="0"/>
                <a:ea typeface="Calibri" panose="020F0502020204030204" pitchFamily="34" charset="0"/>
                <a:cs typeface="Calibri" panose="020F0502020204030204" pitchFamily="34" charset="0"/>
              </a:rPr>
              <a:t>doi</a:t>
            </a:r>
            <a:r>
              <a:rPr lang="en-IN" sz="2000" dirty="0">
                <a:latin typeface="Calibri" panose="020F0502020204030204" pitchFamily="34" charset="0"/>
                <a:ea typeface="Calibri" panose="020F0502020204030204" pitchFamily="34" charset="0"/>
                <a:cs typeface="Calibri" panose="020F0502020204030204" pitchFamily="34" charset="0"/>
              </a:rPr>
              <a:t>: 10.1109/ACCESS.2019.2958258.</a:t>
            </a:r>
          </a:p>
          <a:p>
            <a:pPr marL="76200" indent="0">
              <a:buNone/>
            </a:pPr>
            <a:endParaRPr lang="en-IN" sz="2000"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IN" sz="2000" dirty="0">
                <a:latin typeface="Calibri" panose="020F0502020204030204" pitchFamily="34" charset="0"/>
                <a:ea typeface="Calibri" panose="020F0502020204030204" pitchFamily="34" charset="0"/>
                <a:cs typeface="Calibri" panose="020F0502020204030204" pitchFamily="34" charset="0"/>
              </a:rPr>
              <a:t>[7] Z. Jiao, B. Chen, Z. Zhang and L. Wu, "Sample-Adjusted Threshold Calculation (SATC) for Optimizing Flood Mapping From a Trustworthy and Explainable Perspective," in </a:t>
            </a:r>
            <a:r>
              <a:rPr lang="en-IN" sz="2000" i="1" dirty="0">
                <a:latin typeface="Calibri" panose="020F0502020204030204" pitchFamily="34" charset="0"/>
                <a:ea typeface="Calibri" panose="020F0502020204030204" pitchFamily="34" charset="0"/>
                <a:cs typeface="Calibri" panose="020F0502020204030204" pitchFamily="34" charset="0"/>
              </a:rPr>
              <a:t>IEEE Journal of Selected Topics in Applied Earth Observations and Remote Sensing</a:t>
            </a:r>
            <a:r>
              <a:rPr lang="en-IN" sz="2000" dirty="0">
                <a:latin typeface="Calibri" panose="020F0502020204030204" pitchFamily="34" charset="0"/>
                <a:ea typeface="Calibri" panose="020F0502020204030204" pitchFamily="34" charset="0"/>
                <a:cs typeface="Calibri" panose="020F0502020204030204" pitchFamily="34" charset="0"/>
              </a:rPr>
              <a:t>, vol. 18, pp. 13622-13634, 2025, </a:t>
            </a:r>
            <a:r>
              <a:rPr lang="en-IN" sz="2000" dirty="0" err="1">
                <a:latin typeface="Calibri" panose="020F0502020204030204" pitchFamily="34" charset="0"/>
                <a:ea typeface="Calibri" panose="020F0502020204030204" pitchFamily="34" charset="0"/>
                <a:cs typeface="Calibri" panose="020F0502020204030204" pitchFamily="34" charset="0"/>
              </a:rPr>
              <a:t>doi</a:t>
            </a:r>
            <a:r>
              <a:rPr lang="en-IN" sz="2000" dirty="0">
                <a:latin typeface="Calibri" panose="020F0502020204030204" pitchFamily="34" charset="0"/>
                <a:ea typeface="Calibri" panose="020F0502020204030204" pitchFamily="34" charset="0"/>
                <a:cs typeface="Calibri" panose="020F0502020204030204" pitchFamily="34" charset="0"/>
              </a:rPr>
              <a:t>: 10.1109/JSTARS.2025.3572055</a:t>
            </a:r>
          </a:p>
          <a:p>
            <a:pPr marL="76200" indent="0">
              <a:buNone/>
            </a:pP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781852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3702C-A20F-514C-0F39-FDE9609EBF2E}"/>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BE0BAE23-4F8B-FEA6-9B27-1A89D28E703A}"/>
              </a:ext>
            </a:extLst>
          </p:cNvPr>
          <p:cNvSpPr>
            <a:spLocks noGrp="1"/>
          </p:cNvSpPr>
          <p:nvPr>
            <p:ph type="body" idx="1"/>
          </p:nvPr>
        </p:nvSpPr>
        <p:spPr/>
        <p:txBody>
          <a:bodyPr/>
          <a:lstStyle/>
          <a:p>
            <a:pPr marL="76200" indent="0">
              <a:buNone/>
            </a:pPr>
            <a:r>
              <a:rPr lang="en-IN" dirty="0">
                <a:latin typeface="Calibri" panose="020F0502020204030204" pitchFamily="34" charset="0"/>
                <a:ea typeface="Calibri" panose="020F0502020204030204" pitchFamily="34" charset="0"/>
                <a:cs typeface="Calibri" panose="020F0502020204030204" pitchFamily="34" charset="0"/>
              </a:rPr>
              <a:t>[8] P. Yang, X. Xu, M. Shao and Y. Liu, "Intelligent Prediction of Flood Disaster Risk Levels Based on Knowledge Graph and Graph Neural Networks," in IEEE Access, vol. 13, pp. 8416-8424, 2025, </a:t>
            </a:r>
            <a:r>
              <a:rPr lang="en-IN" dirty="0" err="1">
                <a:latin typeface="Calibri" panose="020F0502020204030204" pitchFamily="34" charset="0"/>
                <a:ea typeface="Calibri" panose="020F0502020204030204" pitchFamily="34" charset="0"/>
                <a:cs typeface="Calibri" panose="020F0502020204030204" pitchFamily="34" charset="0"/>
              </a:rPr>
              <a:t>doi</a:t>
            </a:r>
            <a:r>
              <a:rPr lang="en-IN" dirty="0">
                <a:latin typeface="Calibri" panose="020F0502020204030204" pitchFamily="34" charset="0"/>
                <a:ea typeface="Calibri" panose="020F0502020204030204" pitchFamily="34" charset="0"/>
                <a:cs typeface="Calibri" panose="020F0502020204030204" pitchFamily="34" charset="0"/>
              </a:rPr>
              <a:t>: 10.1109/ACCESS.2025.3525757.</a:t>
            </a:r>
          </a:p>
          <a:p>
            <a:pPr marL="76200" indent="0">
              <a:buNone/>
            </a:pPr>
            <a:endParaRPr lang="en-IN" sz="2000" dirty="0"/>
          </a:p>
          <a:p>
            <a:pPr marL="76200" indent="0">
              <a:buNone/>
            </a:pPr>
            <a:r>
              <a:rPr lang="en-IN" sz="2000" dirty="0"/>
              <a:t>[9] S. </a:t>
            </a:r>
            <a:r>
              <a:rPr lang="en-IN" sz="2000" dirty="0" err="1"/>
              <a:t>Puttinaovarat</a:t>
            </a:r>
            <a:r>
              <a:rPr lang="en-IN" sz="2000" dirty="0"/>
              <a:t> and P. </a:t>
            </a:r>
            <a:r>
              <a:rPr lang="en-IN" sz="2000" dirty="0" err="1"/>
              <a:t>Horkaew</a:t>
            </a:r>
            <a:r>
              <a:rPr lang="en-IN" sz="2000" dirty="0"/>
              <a:t>, "Flood Forecasting System Based on Integrated Big and Crowdsource Data by Using Machine Learning Techniques," in IEEE Access, vol. 8, pp. 5885-5905, 2020, </a:t>
            </a:r>
            <a:r>
              <a:rPr lang="en-IN" sz="2000" dirty="0" err="1"/>
              <a:t>doi</a:t>
            </a:r>
            <a:r>
              <a:rPr lang="en-IN" sz="2000" dirty="0"/>
              <a:t>: 10.1109/ACCESS.2019.2963819.</a:t>
            </a:r>
          </a:p>
          <a:p>
            <a:pPr marL="76200" indent="0">
              <a:buNone/>
            </a:pPr>
            <a:endParaRPr lang="en-IN" sz="2000" dirty="0"/>
          </a:p>
          <a:p>
            <a:pPr marL="76200" indent="0">
              <a:buNone/>
            </a:pPr>
            <a:r>
              <a:rPr lang="en-IN" sz="2000" dirty="0"/>
              <a:t>[10] D. H. Nguyen, X. Hien Le, J. -Y. Heo and D. -H. Bae, "Development of an Extreme Gradient Boosting Model Integrated With Evolutionary Algorithms for Hourly Water Level Prediction," in IEEE Access, vol. 9, pp. 125853-125867, 2021, </a:t>
            </a:r>
            <a:r>
              <a:rPr lang="en-IN" sz="2000" dirty="0" err="1"/>
              <a:t>doi</a:t>
            </a:r>
            <a:r>
              <a:rPr lang="en-IN" sz="2000" dirty="0"/>
              <a:t>: 10.1109/ACCESS.2021.3111287.</a:t>
            </a:r>
          </a:p>
          <a:p>
            <a:pPr marL="76200" indent="0">
              <a:buNone/>
            </a:pPr>
            <a:endParaRPr lang="en-IN" dirty="0">
              <a:latin typeface="Calibri" panose="020F0502020204030204" pitchFamily="34" charset="0"/>
              <a:ea typeface="Calibri" panose="020F0502020204030204" pitchFamily="34" charset="0"/>
              <a:cs typeface="Calibri" panose="020F0502020204030204" pitchFamily="34" charset="0"/>
            </a:endParaRPr>
          </a:p>
          <a:p>
            <a:endParaRPr lang="en-IN" dirty="0"/>
          </a:p>
        </p:txBody>
      </p:sp>
    </p:spTree>
    <p:extLst>
      <p:ext uri="{BB962C8B-B14F-4D97-AF65-F5344CB8AC3E}">
        <p14:creationId xmlns:p14="http://schemas.microsoft.com/office/powerpoint/2010/main" val="5376577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664</TotalTime>
  <Words>1639</Words>
  <Application>Microsoft Office PowerPoint</Application>
  <PresentationFormat>Widescreen</PresentationFormat>
  <Paragraphs>163</Paragraphs>
  <Slides>19</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Cambria</vt:lpstr>
      <vt:lpstr>Verdana</vt:lpstr>
      <vt:lpstr>Wingdings</vt:lpstr>
      <vt:lpstr>Bioinformatics</vt:lpstr>
      <vt:lpstr>PSCS_531_Projection of the extent of inundation corresponding to the forecasts of flood levels in a river.</vt:lpstr>
      <vt:lpstr>Content</vt:lpstr>
      <vt:lpstr>Problem Statement Number: PSCS_6 </vt:lpstr>
      <vt:lpstr>Abstract </vt:lpstr>
      <vt:lpstr>Objectives</vt:lpstr>
      <vt:lpstr>Data Sources</vt:lpstr>
      <vt:lpstr>Methodology &amp; Workflow</vt:lpstr>
      <vt:lpstr>Data Preprocessing in Action</vt:lpstr>
      <vt:lpstr>Feature Engineering - The target Variable </vt:lpstr>
      <vt:lpstr>Architecture Diagram </vt:lpstr>
      <vt:lpstr>Hardware and Software</vt:lpstr>
      <vt:lpstr>Modules</vt:lpstr>
      <vt:lpstr>Conclusion </vt:lpstr>
      <vt:lpstr>Github Link</vt:lpstr>
      <vt:lpstr>Timeline of the Project (Gantt Chart)</vt:lpstr>
      <vt:lpstr>References (IEEE Paper format)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Harshitha A.Y</cp:lastModifiedBy>
  <cp:revision>51</cp:revision>
  <dcterms:modified xsi:type="dcterms:W3CDTF">2025-09-25T08:01:02Z</dcterms:modified>
</cp:coreProperties>
</file>